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57" r:id="rId3"/>
    <p:sldId id="258" r:id="rId4"/>
    <p:sldId id="260" r:id="rId5"/>
    <p:sldId id="263" r:id="rId6"/>
    <p:sldId id="259" r:id="rId7"/>
    <p:sldId id="268" r:id="rId8"/>
    <p:sldId id="269" r:id="rId9"/>
    <p:sldId id="270" r:id="rId10"/>
    <p:sldId id="271" r:id="rId11"/>
    <p:sldId id="261"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4A5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8D3453-2797-4EB2-B462-74D6EFD96056}" v="18" dt="2026-05-16T18:17:24.760"/>
    <p1510:client id="{E8A4CBA6-B0CA-A74C-4D01-8B6988E2792F}" v="1459" dt="2026-05-14T21:19:34.3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CBF155-F3A2-4C63-92CD-F25CFADDED0D}" type="doc">
      <dgm:prSet loTypeId="urn:microsoft.com/office/officeart/2005/8/layout/venn3" loCatId="relationship" qsTypeId="urn:microsoft.com/office/officeart/2005/8/quickstyle/simple5" qsCatId="simple" csTypeId="urn:microsoft.com/office/officeart/2005/8/colors/accent2_2" csCatId="accent2" phldr="1"/>
      <dgm:spPr/>
      <dgm:t>
        <a:bodyPr/>
        <a:lstStyle/>
        <a:p>
          <a:endParaRPr lang="en-US"/>
        </a:p>
      </dgm:t>
    </dgm:pt>
    <dgm:pt modelId="{9CE54635-471C-41D3-9E0A-D3A88BDD6A40}">
      <dgm:prSet phldrT="[Text]" phldr="0"/>
      <dgm:spPr/>
      <dgm:t>
        <a:bodyPr/>
        <a:lstStyle/>
        <a:p>
          <a:r>
            <a:rPr lang="en-US" dirty="0">
              <a:latin typeface="Trade Gothic Next Cond"/>
            </a:rPr>
            <a:t>Excel</a:t>
          </a:r>
          <a:endParaRPr lang="en-US" dirty="0"/>
        </a:p>
      </dgm:t>
    </dgm:pt>
    <dgm:pt modelId="{58E6FF15-5C5D-4764-87B7-6CA83D2772FE}" type="parTrans" cxnId="{3FBB7EC9-DA06-47B9-BE74-86302993BBB4}">
      <dgm:prSet/>
      <dgm:spPr/>
      <dgm:t>
        <a:bodyPr/>
        <a:lstStyle/>
        <a:p>
          <a:endParaRPr lang="en-US"/>
        </a:p>
      </dgm:t>
    </dgm:pt>
    <dgm:pt modelId="{058A8FAD-9461-47EE-A145-63955E82A70B}" type="sibTrans" cxnId="{3FBB7EC9-DA06-47B9-BE74-86302993BBB4}">
      <dgm:prSet/>
      <dgm:spPr/>
      <dgm:t>
        <a:bodyPr/>
        <a:lstStyle/>
        <a:p>
          <a:endParaRPr lang="en-US"/>
        </a:p>
      </dgm:t>
    </dgm:pt>
    <dgm:pt modelId="{5FE3AFB4-CA13-461E-BEB6-D131181CB68C}">
      <dgm:prSet phldrT="[Text]" phldr="0"/>
      <dgm:spPr/>
      <dgm:t>
        <a:bodyPr/>
        <a:lstStyle/>
        <a:p>
          <a:r>
            <a:rPr lang="en-US">
              <a:latin typeface="Trade Gothic Next Cond"/>
            </a:rPr>
            <a:t>SQL</a:t>
          </a:r>
          <a:endParaRPr lang="en-US"/>
        </a:p>
      </dgm:t>
    </dgm:pt>
    <dgm:pt modelId="{9F95AADE-0EBE-4501-9AFF-25F755D40462}" type="parTrans" cxnId="{161E8D1A-E4BB-41B8-96F4-B6320E4FF853}">
      <dgm:prSet/>
      <dgm:spPr/>
      <dgm:t>
        <a:bodyPr/>
        <a:lstStyle/>
        <a:p>
          <a:endParaRPr lang="en-US"/>
        </a:p>
      </dgm:t>
    </dgm:pt>
    <dgm:pt modelId="{01DBACE5-5C5E-475B-9151-4976B874FB36}" type="sibTrans" cxnId="{161E8D1A-E4BB-41B8-96F4-B6320E4FF853}">
      <dgm:prSet/>
      <dgm:spPr/>
      <dgm:t>
        <a:bodyPr/>
        <a:lstStyle/>
        <a:p>
          <a:endParaRPr lang="en-US"/>
        </a:p>
      </dgm:t>
    </dgm:pt>
    <dgm:pt modelId="{FED40D83-8CC4-4C62-B6D0-F4F79BF6938A}">
      <dgm:prSet phldrT="[Text]" phldr="0"/>
      <dgm:spPr/>
      <dgm:t>
        <a:bodyPr/>
        <a:lstStyle/>
        <a:p>
          <a:pPr rtl="0"/>
          <a:r>
            <a:rPr lang="en-US">
              <a:latin typeface="Trade Gothic Next Cond"/>
            </a:rPr>
            <a:t>Power BI</a:t>
          </a:r>
          <a:endParaRPr lang="en-US"/>
        </a:p>
      </dgm:t>
    </dgm:pt>
    <dgm:pt modelId="{62EF10BA-9674-47F3-86D8-35077D728A33}" type="parTrans" cxnId="{39155293-283D-4EE4-A741-D557F0A69A51}">
      <dgm:prSet/>
      <dgm:spPr/>
      <dgm:t>
        <a:bodyPr/>
        <a:lstStyle/>
        <a:p>
          <a:endParaRPr lang="en-US"/>
        </a:p>
      </dgm:t>
    </dgm:pt>
    <dgm:pt modelId="{58EB4906-6CE9-498D-A9D2-E975C6E77E51}" type="sibTrans" cxnId="{39155293-283D-4EE4-A741-D557F0A69A51}">
      <dgm:prSet/>
      <dgm:spPr/>
      <dgm:t>
        <a:bodyPr/>
        <a:lstStyle/>
        <a:p>
          <a:endParaRPr lang="en-US"/>
        </a:p>
      </dgm:t>
    </dgm:pt>
    <dgm:pt modelId="{C33F1B70-DC7B-40FA-AA69-C56BF2B3017B}">
      <dgm:prSet phldrT="[Text]" phldr="0"/>
      <dgm:spPr/>
      <dgm:t>
        <a:bodyPr/>
        <a:lstStyle/>
        <a:p>
          <a:r>
            <a:rPr lang="en-US">
              <a:latin typeface="Trade Gothic Next Cond"/>
            </a:rPr>
            <a:t>DAX</a:t>
          </a:r>
          <a:endParaRPr lang="en-US"/>
        </a:p>
      </dgm:t>
    </dgm:pt>
    <dgm:pt modelId="{14B95259-5FDA-42BC-8BB7-A38DA0F3D968}" type="parTrans" cxnId="{2CAAC304-2CE5-4858-B4FD-784405F2390C}">
      <dgm:prSet/>
      <dgm:spPr/>
      <dgm:t>
        <a:bodyPr/>
        <a:lstStyle/>
        <a:p>
          <a:endParaRPr lang="en-US"/>
        </a:p>
      </dgm:t>
    </dgm:pt>
    <dgm:pt modelId="{2A58F7E2-53DB-41CD-8AA6-E9BBEC3ABCF3}" type="sibTrans" cxnId="{2CAAC304-2CE5-4858-B4FD-784405F2390C}">
      <dgm:prSet/>
      <dgm:spPr/>
      <dgm:t>
        <a:bodyPr/>
        <a:lstStyle/>
        <a:p>
          <a:endParaRPr lang="en-US"/>
        </a:p>
      </dgm:t>
    </dgm:pt>
    <dgm:pt modelId="{00B85AD8-3237-46AE-9E6C-4589F91D7B52}">
      <dgm:prSet phldrT="[Text]" phldr="0"/>
      <dgm:spPr/>
      <dgm:t>
        <a:bodyPr/>
        <a:lstStyle/>
        <a:p>
          <a:pPr rtl="0"/>
          <a:r>
            <a:rPr lang="en-US" dirty="0">
              <a:latin typeface="Trade Gothic Next Cond"/>
            </a:rPr>
            <a:t>Business Insights</a:t>
          </a:r>
        </a:p>
      </dgm:t>
    </dgm:pt>
    <dgm:pt modelId="{79363BA2-5B68-492A-857E-13549BCFC0B7}" type="parTrans" cxnId="{6B793B8B-9A59-4BE7-A490-F14E17B7C7FB}">
      <dgm:prSet/>
      <dgm:spPr/>
    </dgm:pt>
    <dgm:pt modelId="{9A75D581-9298-4F28-BF24-474D642D997C}" type="sibTrans" cxnId="{6B793B8B-9A59-4BE7-A490-F14E17B7C7FB}">
      <dgm:prSet/>
      <dgm:spPr/>
    </dgm:pt>
    <dgm:pt modelId="{DA9F9B3D-3CD8-4288-97FC-FAD2DC4D50BC}" type="pres">
      <dgm:prSet presAssocID="{98CBF155-F3A2-4C63-92CD-F25CFADDED0D}" presName="Name0" presStyleCnt="0">
        <dgm:presLayoutVars>
          <dgm:dir/>
          <dgm:resizeHandles val="exact"/>
        </dgm:presLayoutVars>
      </dgm:prSet>
      <dgm:spPr/>
    </dgm:pt>
    <dgm:pt modelId="{A36CAA3F-6E4B-45B9-9A20-DABBA2DABD3D}" type="pres">
      <dgm:prSet presAssocID="{9CE54635-471C-41D3-9E0A-D3A88BDD6A40}" presName="Name5" presStyleLbl="vennNode1" presStyleIdx="0" presStyleCnt="5">
        <dgm:presLayoutVars>
          <dgm:bulletEnabled val="1"/>
        </dgm:presLayoutVars>
      </dgm:prSet>
      <dgm:spPr/>
    </dgm:pt>
    <dgm:pt modelId="{FA0D7D82-7E39-405C-B22A-3B6CBFA29C94}" type="pres">
      <dgm:prSet presAssocID="{058A8FAD-9461-47EE-A145-63955E82A70B}" presName="space" presStyleCnt="0"/>
      <dgm:spPr/>
    </dgm:pt>
    <dgm:pt modelId="{4F15F2AF-EACD-4620-B3A4-519C99D37680}" type="pres">
      <dgm:prSet presAssocID="{5FE3AFB4-CA13-461E-BEB6-D131181CB68C}" presName="Name5" presStyleLbl="vennNode1" presStyleIdx="1" presStyleCnt="5">
        <dgm:presLayoutVars>
          <dgm:bulletEnabled val="1"/>
        </dgm:presLayoutVars>
      </dgm:prSet>
      <dgm:spPr/>
    </dgm:pt>
    <dgm:pt modelId="{F1C9D22D-DAC6-4648-A162-337504460CF2}" type="pres">
      <dgm:prSet presAssocID="{01DBACE5-5C5E-475B-9151-4976B874FB36}" presName="space" presStyleCnt="0"/>
      <dgm:spPr/>
    </dgm:pt>
    <dgm:pt modelId="{1A467440-E5CD-4681-801A-2F2902A03175}" type="pres">
      <dgm:prSet presAssocID="{FED40D83-8CC4-4C62-B6D0-F4F79BF6938A}" presName="Name5" presStyleLbl="vennNode1" presStyleIdx="2" presStyleCnt="5">
        <dgm:presLayoutVars>
          <dgm:bulletEnabled val="1"/>
        </dgm:presLayoutVars>
      </dgm:prSet>
      <dgm:spPr/>
    </dgm:pt>
    <dgm:pt modelId="{4847B223-FE70-4688-8D8B-F6C28CB5120C}" type="pres">
      <dgm:prSet presAssocID="{58EB4906-6CE9-498D-A9D2-E975C6E77E51}" presName="space" presStyleCnt="0"/>
      <dgm:spPr/>
    </dgm:pt>
    <dgm:pt modelId="{A20F8227-0D60-4921-B9D3-4125F55CAE44}" type="pres">
      <dgm:prSet presAssocID="{C33F1B70-DC7B-40FA-AA69-C56BF2B3017B}" presName="Name5" presStyleLbl="vennNode1" presStyleIdx="3" presStyleCnt="5">
        <dgm:presLayoutVars>
          <dgm:bulletEnabled val="1"/>
        </dgm:presLayoutVars>
      </dgm:prSet>
      <dgm:spPr/>
    </dgm:pt>
    <dgm:pt modelId="{CBF89AA9-204B-4B99-803E-155A902529EC}" type="pres">
      <dgm:prSet presAssocID="{2A58F7E2-53DB-41CD-8AA6-E9BBEC3ABCF3}" presName="space" presStyleCnt="0"/>
      <dgm:spPr/>
    </dgm:pt>
    <dgm:pt modelId="{8D964D21-882B-494D-970D-5BACF01B4A56}" type="pres">
      <dgm:prSet presAssocID="{00B85AD8-3237-46AE-9E6C-4589F91D7B52}" presName="Name5" presStyleLbl="vennNode1" presStyleIdx="4" presStyleCnt="5">
        <dgm:presLayoutVars>
          <dgm:bulletEnabled val="1"/>
        </dgm:presLayoutVars>
      </dgm:prSet>
      <dgm:spPr/>
    </dgm:pt>
  </dgm:ptLst>
  <dgm:cxnLst>
    <dgm:cxn modelId="{2CAAC304-2CE5-4858-B4FD-784405F2390C}" srcId="{98CBF155-F3A2-4C63-92CD-F25CFADDED0D}" destId="{C33F1B70-DC7B-40FA-AA69-C56BF2B3017B}" srcOrd="3" destOrd="0" parTransId="{14B95259-5FDA-42BC-8BB7-A38DA0F3D968}" sibTransId="{2A58F7E2-53DB-41CD-8AA6-E9BBEC3ABCF3}"/>
    <dgm:cxn modelId="{F970B605-9B29-4A9A-8793-AB3A2EC8A8FE}" type="presOf" srcId="{C33F1B70-DC7B-40FA-AA69-C56BF2B3017B}" destId="{A20F8227-0D60-4921-B9D3-4125F55CAE44}" srcOrd="0" destOrd="0" presId="urn:microsoft.com/office/officeart/2005/8/layout/venn3"/>
    <dgm:cxn modelId="{161E8D1A-E4BB-41B8-96F4-B6320E4FF853}" srcId="{98CBF155-F3A2-4C63-92CD-F25CFADDED0D}" destId="{5FE3AFB4-CA13-461E-BEB6-D131181CB68C}" srcOrd="1" destOrd="0" parTransId="{9F95AADE-0EBE-4501-9AFF-25F755D40462}" sibTransId="{01DBACE5-5C5E-475B-9151-4976B874FB36}"/>
    <dgm:cxn modelId="{ABA97248-E05A-46E8-BC1F-81AF37F0B3FB}" type="presOf" srcId="{5FE3AFB4-CA13-461E-BEB6-D131181CB68C}" destId="{4F15F2AF-EACD-4620-B3A4-519C99D37680}" srcOrd="0" destOrd="0" presId="urn:microsoft.com/office/officeart/2005/8/layout/venn3"/>
    <dgm:cxn modelId="{6B793B8B-9A59-4BE7-A490-F14E17B7C7FB}" srcId="{98CBF155-F3A2-4C63-92CD-F25CFADDED0D}" destId="{00B85AD8-3237-46AE-9E6C-4589F91D7B52}" srcOrd="4" destOrd="0" parTransId="{79363BA2-5B68-492A-857E-13549BCFC0B7}" sibTransId="{9A75D581-9298-4F28-BF24-474D642D997C}"/>
    <dgm:cxn modelId="{39155293-283D-4EE4-A741-D557F0A69A51}" srcId="{98CBF155-F3A2-4C63-92CD-F25CFADDED0D}" destId="{FED40D83-8CC4-4C62-B6D0-F4F79BF6938A}" srcOrd="2" destOrd="0" parTransId="{62EF10BA-9674-47F3-86D8-35077D728A33}" sibTransId="{58EB4906-6CE9-498D-A9D2-E975C6E77E51}"/>
    <dgm:cxn modelId="{DC2B0DB8-5419-4F76-A2F4-CF860F5DF62F}" type="presOf" srcId="{00B85AD8-3237-46AE-9E6C-4589F91D7B52}" destId="{8D964D21-882B-494D-970D-5BACF01B4A56}" srcOrd="0" destOrd="0" presId="urn:microsoft.com/office/officeart/2005/8/layout/venn3"/>
    <dgm:cxn modelId="{3FBB7EC9-DA06-47B9-BE74-86302993BBB4}" srcId="{98CBF155-F3A2-4C63-92CD-F25CFADDED0D}" destId="{9CE54635-471C-41D3-9E0A-D3A88BDD6A40}" srcOrd="0" destOrd="0" parTransId="{58E6FF15-5C5D-4764-87B7-6CA83D2772FE}" sibTransId="{058A8FAD-9461-47EE-A145-63955E82A70B}"/>
    <dgm:cxn modelId="{2121E6E0-D7B6-4976-B64F-4C69591F2059}" type="presOf" srcId="{98CBF155-F3A2-4C63-92CD-F25CFADDED0D}" destId="{DA9F9B3D-3CD8-4288-97FC-FAD2DC4D50BC}" srcOrd="0" destOrd="0" presId="urn:microsoft.com/office/officeart/2005/8/layout/venn3"/>
    <dgm:cxn modelId="{530D4CF2-4586-4D8D-89AB-B8B30FC5B60B}" type="presOf" srcId="{FED40D83-8CC4-4C62-B6D0-F4F79BF6938A}" destId="{1A467440-E5CD-4681-801A-2F2902A03175}" srcOrd="0" destOrd="0" presId="urn:microsoft.com/office/officeart/2005/8/layout/venn3"/>
    <dgm:cxn modelId="{8C6B0BF8-5355-4D3C-B177-E68B6894DA80}" type="presOf" srcId="{9CE54635-471C-41D3-9E0A-D3A88BDD6A40}" destId="{A36CAA3F-6E4B-45B9-9A20-DABBA2DABD3D}" srcOrd="0" destOrd="0" presId="urn:microsoft.com/office/officeart/2005/8/layout/venn3"/>
    <dgm:cxn modelId="{74451907-699F-458F-AAED-EF979A82658F}" type="presParOf" srcId="{DA9F9B3D-3CD8-4288-97FC-FAD2DC4D50BC}" destId="{A36CAA3F-6E4B-45B9-9A20-DABBA2DABD3D}" srcOrd="0" destOrd="0" presId="urn:microsoft.com/office/officeart/2005/8/layout/venn3"/>
    <dgm:cxn modelId="{B2CEEDEB-1628-440A-8A43-2A5D3209C782}" type="presParOf" srcId="{DA9F9B3D-3CD8-4288-97FC-FAD2DC4D50BC}" destId="{FA0D7D82-7E39-405C-B22A-3B6CBFA29C94}" srcOrd="1" destOrd="0" presId="urn:microsoft.com/office/officeart/2005/8/layout/venn3"/>
    <dgm:cxn modelId="{486DAFA7-D065-46FA-B016-AB34962B8967}" type="presParOf" srcId="{DA9F9B3D-3CD8-4288-97FC-FAD2DC4D50BC}" destId="{4F15F2AF-EACD-4620-B3A4-519C99D37680}" srcOrd="2" destOrd="0" presId="urn:microsoft.com/office/officeart/2005/8/layout/venn3"/>
    <dgm:cxn modelId="{B34F7240-D0F2-41F7-B5FC-CA37CD683E9F}" type="presParOf" srcId="{DA9F9B3D-3CD8-4288-97FC-FAD2DC4D50BC}" destId="{F1C9D22D-DAC6-4648-A162-337504460CF2}" srcOrd="3" destOrd="0" presId="urn:microsoft.com/office/officeart/2005/8/layout/venn3"/>
    <dgm:cxn modelId="{9B5D0B74-9506-4277-8822-3713843DE4BD}" type="presParOf" srcId="{DA9F9B3D-3CD8-4288-97FC-FAD2DC4D50BC}" destId="{1A467440-E5CD-4681-801A-2F2902A03175}" srcOrd="4" destOrd="0" presId="urn:microsoft.com/office/officeart/2005/8/layout/venn3"/>
    <dgm:cxn modelId="{313BC61B-FD49-422C-B95C-982854A824EC}" type="presParOf" srcId="{DA9F9B3D-3CD8-4288-97FC-FAD2DC4D50BC}" destId="{4847B223-FE70-4688-8D8B-F6C28CB5120C}" srcOrd="5" destOrd="0" presId="urn:microsoft.com/office/officeart/2005/8/layout/venn3"/>
    <dgm:cxn modelId="{97F8DE4A-C9E3-4F7B-8239-258468014497}" type="presParOf" srcId="{DA9F9B3D-3CD8-4288-97FC-FAD2DC4D50BC}" destId="{A20F8227-0D60-4921-B9D3-4125F55CAE44}" srcOrd="6" destOrd="0" presId="urn:microsoft.com/office/officeart/2005/8/layout/venn3"/>
    <dgm:cxn modelId="{E6827E5A-048A-473D-9ADC-F204FFED8105}" type="presParOf" srcId="{DA9F9B3D-3CD8-4288-97FC-FAD2DC4D50BC}" destId="{CBF89AA9-204B-4B99-803E-155A902529EC}" srcOrd="7" destOrd="0" presId="urn:microsoft.com/office/officeart/2005/8/layout/venn3"/>
    <dgm:cxn modelId="{20C4D469-B1D9-4260-B5BB-C77008968C53}" type="presParOf" srcId="{DA9F9B3D-3CD8-4288-97FC-FAD2DC4D50BC}" destId="{8D964D21-882B-494D-970D-5BACF01B4A56}" srcOrd="8"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D6B7CB-76A2-49B8-9E37-BB9E76B4C1B5}" type="doc">
      <dgm:prSet loTypeId="urn:microsoft.com/office/officeart/2005/8/layout/process1" loCatId="process" qsTypeId="urn:microsoft.com/office/officeart/2005/8/quickstyle/simple1" qsCatId="simple" csTypeId="urn:microsoft.com/office/officeart/2005/8/colors/accent2_2" csCatId="accent2" phldr="1"/>
      <dgm:spPr/>
    </dgm:pt>
    <dgm:pt modelId="{4D427870-A537-4026-9510-952BD4072ACC}">
      <dgm:prSet phldrT="[Text]" phldr="0"/>
      <dgm:spPr/>
      <dgm:t>
        <a:bodyPr/>
        <a:lstStyle/>
        <a:p>
          <a:pPr rtl="0"/>
          <a:r>
            <a:rPr lang="en-US" dirty="0"/>
            <a:t>Cleaned and validated raw data using Excel</a:t>
          </a:r>
        </a:p>
      </dgm:t>
    </dgm:pt>
    <dgm:pt modelId="{40027585-1929-442D-B12E-BA0B17B675E0}" type="parTrans" cxnId="{A761EF19-F212-45A7-93DC-1AE773DB45F9}">
      <dgm:prSet/>
      <dgm:spPr/>
    </dgm:pt>
    <dgm:pt modelId="{3AA44752-7F80-410A-A18B-3E3031F7C160}" type="sibTrans" cxnId="{A761EF19-F212-45A7-93DC-1AE773DB45F9}">
      <dgm:prSet/>
      <dgm:spPr/>
      <dgm:t>
        <a:bodyPr/>
        <a:lstStyle/>
        <a:p>
          <a:endParaRPr lang="en-US"/>
        </a:p>
      </dgm:t>
    </dgm:pt>
    <dgm:pt modelId="{093B76AC-9D73-4DCC-955E-1212DB32C045}">
      <dgm:prSet phldrT="[Text]" phldr="0"/>
      <dgm:spPr/>
      <dgm:t>
        <a:bodyPr/>
        <a:lstStyle/>
        <a:p>
          <a:pPr rtl="0"/>
          <a:r>
            <a:rPr lang="en-US"/>
            <a:t>Checked for missing values </a:t>
          </a:r>
          <a:r>
            <a:rPr lang="en-US">
              <a:latin typeface="Trade Gothic Next Cond"/>
            </a:rPr>
            <a:t>   </a:t>
          </a:r>
          <a:r>
            <a:rPr lang="en-US"/>
            <a:t>and inconsistencies</a:t>
          </a:r>
        </a:p>
      </dgm:t>
    </dgm:pt>
    <dgm:pt modelId="{2307F48D-DB98-414A-BD16-F80797D017DE}" type="parTrans" cxnId="{677E18DD-6DF5-41E4-93DB-8787D2577C3F}">
      <dgm:prSet/>
      <dgm:spPr/>
    </dgm:pt>
    <dgm:pt modelId="{35590513-CDCF-4606-A18C-FCE9C61220CB}" type="sibTrans" cxnId="{677E18DD-6DF5-41E4-93DB-8787D2577C3F}">
      <dgm:prSet/>
      <dgm:spPr/>
      <dgm:t>
        <a:bodyPr/>
        <a:lstStyle/>
        <a:p>
          <a:endParaRPr lang="en-US"/>
        </a:p>
      </dgm:t>
    </dgm:pt>
    <dgm:pt modelId="{E95BC6E7-0600-470F-9083-557156B02954}">
      <dgm:prSet phldrT="[Text]" phldr="0"/>
      <dgm:spPr/>
      <dgm:t>
        <a:bodyPr/>
        <a:lstStyle/>
        <a:p>
          <a:pPr rtl="0"/>
          <a:r>
            <a:rPr lang="en-US" dirty="0"/>
            <a:t>Removed duplicate and unnecessary records</a:t>
          </a:r>
        </a:p>
      </dgm:t>
    </dgm:pt>
    <dgm:pt modelId="{1367BDB5-8BC8-420E-877F-014CE402B480}" type="parTrans" cxnId="{BE5EE628-5682-4B48-892C-0D255F92C3CA}">
      <dgm:prSet/>
      <dgm:spPr/>
    </dgm:pt>
    <dgm:pt modelId="{E2D36CF9-DD84-44ED-9206-883BE819E99C}" type="sibTrans" cxnId="{BE5EE628-5682-4B48-892C-0D255F92C3CA}">
      <dgm:prSet/>
      <dgm:spPr/>
      <dgm:t>
        <a:bodyPr/>
        <a:lstStyle/>
        <a:p>
          <a:endParaRPr lang="en-US"/>
        </a:p>
      </dgm:t>
    </dgm:pt>
    <dgm:pt modelId="{8A8AAE82-516B-4FF5-9ED0-FB7AD0B988B3}">
      <dgm:prSet phldrT="[Text]" phldr="0"/>
      <dgm:spPr/>
      <dgm:t>
        <a:bodyPr/>
        <a:lstStyle/>
        <a:p>
          <a:pPr rtl="0"/>
          <a:r>
            <a:rPr lang="en-US"/>
            <a:t>Standardized column formats and data types</a:t>
          </a:r>
        </a:p>
      </dgm:t>
    </dgm:pt>
    <dgm:pt modelId="{84110FFC-1202-4E44-82DD-B4876CECD6AC}" type="parTrans" cxnId="{A6EC3F7F-F2B1-4C75-B89B-F35BBD46836D}">
      <dgm:prSet/>
      <dgm:spPr/>
    </dgm:pt>
    <dgm:pt modelId="{B3CB2902-E305-4AC5-BD60-D54AE1909F6E}" type="sibTrans" cxnId="{A6EC3F7F-F2B1-4C75-B89B-F35BBD46836D}">
      <dgm:prSet/>
      <dgm:spPr/>
      <dgm:t>
        <a:bodyPr/>
        <a:lstStyle/>
        <a:p>
          <a:endParaRPr lang="en-US"/>
        </a:p>
      </dgm:t>
    </dgm:pt>
    <dgm:pt modelId="{A55D2C4A-6704-43AA-8AF4-8B759686E908}">
      <dgm:prSet phldrT="[Text]" phldr="0"/>
      <dgm:spPr/>
      <dgm:t>
        <a:bodyPr/>
        <a:lstStyle/>
        <a:p>
          <a:pPr rtl="0"/>
          <a:r>
            <a:rPr lang="en-US" dirty="0"/>
            <a:t>Verified data accuracy before SQL loading</a:t>
          </a:r>
          <a:endParaRPr lang="en-US" dirty="0">
            <a:latin typeface="Trade Gothic Next Cond"/>
          </a:endParaRPr>
        </a:p>
      </dgm:t>
    </dgm:pt>
    <dgm:pt modelId="{B5B73F58-5FBE-49C0-809A-28FC47BAC29E}" type="parTrans" cxnId="{0F118920-A32B-4C91-AD3D-4371B8B13A47}">
      <dgm:prSet/>
      <dgm:spPr/>
    </dgm:pt>
    <dgm:pt modelId="{290B04C6-D13D-4830-A33D-0BBB9ABEDC65}" type="sibTrans" cxnId="{0F118920-A32B-4C91-AD3D-4371B8B13A47}">
      <dgm:prSet/>
      <dgm:spPr/>
      <dgm:t>
        <a:bodyPr/>
        <a:lstStyle/>
        <a:p>
          <a:endParaRPr lang="en-US"/>
        </a:p>
      </dgm:t>
    </dgm:pt>
    <dgm:pt modelId="{8EA0AFBA-CF48-4282-B179-A604712B3262}" type="pres">
      <dgm:prSet presAssocID="{D2D6B7CB-76A2-49B8-9E37-BB9E76B4C1B5}" presName="Name0" presStyleCnt="0">
        <dgm:presLayoutVars>
          <dgm:dir/>
          <dgm:resizeHandles val="exact"/>
        </dgm:presLayoutVars>
      </dgm:prSet>
      <dgm:spPr/>
    </dgm:pt>
    <dgm:pt modelId="{643ED956-6AD1-4AC4-9B25-D8C8A4DDDA3B}" type="pres">
      <dgm:prSet presAssocID="{4D427870-A537-4026-9510-952BD4072ACC}" presName="node" presStyleLbl="node1" presStyleIdx="0" presStyleCnt="5">
        <dgm:presLayoutVars>
          <dgm:bulletEnabled val="1"/>
        </dgm:presLayoutVars>
      </dgm:prSet>
      <dgm:spPr/>
    </dgm:pt>
    <dgm:pt modelId="{49D3CB3A-0AA7-4C8E-9FAA-10CC95EA0C64}" type="pres">
      <dgm:prSet presAssocID="{3AA44752-7F80-410A-A18B-3E3031F7C160}" presName="sibTrans" presStyleLbl="sibTrans2D1" presStyleIdx="0" presStyleCnt="4"/>
      <dgm:spPr/>
    </dgm:pt>
    <dgm:pt modelId="{ADC1F7AD-A7FF-4B42-A650-ECB820862720}" type="pres">
      <dgm:prSet presAssocID="{3AA44752-7F80-410A-A18B-3E3031F7C160}" presName="connectorText" presStyleLbl="sibTrans2D1" presStyleIdx="0" presStyleCnt="4"/>
      <dgm:spPr/>
    </dgm:pt>
    <dgm:pt modelId="{09C15268-9715-4E5C-86D3-328836ED5F52}" type="pres">
      <dgm:prSet presAssocID="{093B76AC-9D73-4DCC-955E-1212DB32C045}" presName="node" presStyleLbl="node1" presStyleIdx="1" presStyleCnt="5">
        <dgm:presLayoutVars>
          <dgm:bulletEnabled val="1"/>
        </dgm:presLayoutVars>
      </dgm:prSet>
      <dgm:spPr/>
    </dgm:pt>
    <dgm:pt modelId="{364693ED-2E07-46EB-AB27-22CD849DF079}" type="pres">
      <dgm:prSet presAssocID="{35590513-CDCF-4606-A18C-FCE9C61220CB}" presName="sibTrans" presStyleLbl="sibTrans2D1" presStyleIdx="1" presStyleCnt="4"/>
      <dgm:spPr/>
    </dgm:pt>
    <dgm:pt modelId="{926B0204-D53A-462D-BB4D-20AF2ABECD55}" type="pres">
      <dgm:prSet presAssocID="{35590513-CDCF-4606-A18C-FCE9C61220CB}" presName="connectorText" presStyleLbl="sibTrans2D1" presStyleIdx="1" presStyleCnt="4"/>
      <dgm:spPr/>
    </dgm:pt>
    <dgm:pt modelId="{EF219AC7-FDE7-42FF-9CE1-7DEDC68CDC6B}" type="pres">
      <dgm:prSet presAssocID="{8A8AAE82-516B-4FF5-9ED0-FB7AD0B988B3}" presName="node" presStyleLbl="node1" presStyleIdx="2" presStyleCnt="5">
        <dgm:presLayoutVars>
          <dgm:bulletEnabled val="1"/>
        </dgm:presLayoutVars>
      </dgm:prSet>
      <dgm:spPr/>
    </dgm:pt>
    <dgm:pt modelId="{1E6EDBF1-7FAF-46E1-A9E5-E48910DFB7A1}" type="pres">
      <dgm:prSet presAssocID="{B3CB2902-E305-4AC5-BD60-D54AE1909F6E}" presName="sibTrans" presStyleLbl="sibTrans2D1" presStyleIdx="2" presStyleCnt="4"/>
      <dgm:spPr/>
    </dgm:pt>
    <dgm:pt modelId="{03FA595C-3496-47A0-9288-B184BDD4F158}" type="pres">
      <dgm:prSet presAssocID="{B3CB2902-E305-4AC5-BD60-D54AE1909F6E}" presName="connectorText" presStyleLbl="sibTrans2D1" presStyleIdx="2" presStyleCnt="4"/>
      <dgm:spPr/>
    </dgm:pt>
    <dgm:pt modelId="{9E8FE20A-D879-45E2-B033-38E0DFB40B27}" type="pres">
      <dgm:prSet presAssocID="{E95BC6E7-0600-470F-9083-557156B02954}" presName="node" presStyleLbl="node1" presStyleIdx="3" presStyleCnt="5">
        <dgm:presLayoutVars>
          <dgm:bulletEnabled val="1"/>
        </dgm:presLayoutVars>
      </dgm:prSet>
      <dgm:spPr/>
    </dgm:pt>
    <dgm:pt modelId="{1A60335F-1C98-4343-BF3F-C40E2CA19972}" type="pres">
      <dgm:prSet presAssocID="{E2D36CF9-DD84-44ED-9206-883BE819E99C}" presName="sibTrans" presStyleLbl="sibTrans2D1" presStyleIdx="3" presStyleCnt="4"/>
      <dgm:spPr/>
    </dgm:pt>
    <dgm:pt modelId="{26C0F159-4114-4A37-84F1-505D52963808}" type="pres">
      <dgm:prSet presAssocID="{E2D36CF9-DD84-44ED-9206-883BE819E99C}" presName="connectorText" presStyleLbl="sibTrans2D1" presStyleIdx="3" presStyleCnt="4"/>
      <dgm:spPr/>
    </dgm:pt>
    <dgm:pt modelId="{A873B829-EC37-4A8F-96FF-E4EE504A7863}" type="pres">
      <dgm:prSet presAssocID="{A55D2C4A-6704-43AA-8AF4-8B759686E908}" presName="node" presStyleLbl="node1" presStyleIdx="4" presStyleCnt="5">
        <dgm:presLayoutVars>
          <dgm:bulletEnabled val="1"/>
        </dgm:presLayoutVars>
      </dgm:prSet>
      <dgm:spPr/>
    </dgm:pt>
  </dgm:ptLst>
  <dgm:cxnLst>
    <dgm:cxn modelId="{46EB9116-CE61-42A6-94B0-0EB493AE6823}" type="presOf" srcId="{E2D36CF9-DD84-44ED-9206-883BE819E99C}" destId="{26C0F159-4114-4A37-84F1-505D52963808}" srcOrd="1" destOrd="0" presId="urn:microsoft.com/office/officeart/2005/8/layout/process1"/>
    <dgm:cxn modelId="{4DA48117-6038-4394-BFC1-AB2E3CE09316}" type="presOf" srcId="{35590513-CDCF-4606-A18C-FCE9C61220CB}" destId="{364693ED-2E07-46EB-AB27-22CD849DF079}" srcOrd="0" destOrd="0" presId="urn:microsoft.com/office/officeart/2005/8/layout/process1"/>
    <dgm:cxn modelId="{89B37518-8248-44FE-8822-D80915A53F24}" type="presOf" srcId="{35590513-CDCF-4606-A18C-FCE9C61220CB}" destId="{926B0204-D53A-462D-BB4D-20AF2ABECD55}" srcOrd="1" destOrd="0" presId="urn:microsoft.com/office/officeart/2005/8/layout/process1"/>
    <dgm:cxn modelId="{A761EF19-F212-45A7-93DC-1AE773DB45F9}" srcId="{D2D6B7CB-76A2-49B8-9E37-BB9E76B4C1B5}" destId="{4D427870-A537-4026-9510-952BD4072ACC}" srcOrd="0" destOrd="0" parTransId="{40027585-1929-442D-B12E-BA0B17B675E0}" sibTransId="{3AA44752-7F80-410A-A18B-3E3031F7C160}"/>
    <dgm:cxn modelId="{0F118920-A32B-4C91-AD3D-4371B8B13A47}" srcId="{D2D6B7CB-76A2-49B8-9E37-BB9E76B4C1B5}" destId="{A55D2C4A-6704-43AA-8AF4-8B759686E908}" srcOrd="4" destOrd="0" parTransId="{B5B73F58-5FBE-49C0-809A-28FC47BAC29E}" sibTransId="{290B04C6-D13D-4830-A33D-0BBB9ABEDC65}"/>
    <dgm:cxn modelId="{BE5EE628-5682-4B48-892C-0D255F92C3CA}" srcId="{D2D6B7CB-76A2-49B8-9E37-BB9E76B4C1B5}" destId="{E95BC6E7-0600-470F-9083-557156B02954}" srcOrd="3" destOrd="0" parTransId="{1367BDB5-8BC8-420E-877F-014CE402B480}" sibTransId="{E2D36CF9-DD84-44ED-9206-883BE819E99C}"/>
    <dgm:cxn modelId="{4EEBE62D-4C00-4414-B133-7324615B0D3E}" type="presOf" srcId="{093B76AC-9D73-4DCC-955E-1212DB32C045}" destId="{09C15268-9715-4E5C-86D3-328836ED5F52}" srcOrd="0" destOrd="0" presId="urn:microsoft.com/office/officeart/2005/8/layout/process1"/>
    <dgm:cxn modelId="{B0D7242F-5C4D-423A-81A3-473D8925EEAC}" type="presOf" srcId="{3AA44752-7F80-410A-A18B-3E3031F7C160}" destId="{49D3CB3A-0AA7-4C8E-9FAA-10CC95EA0C64}" srcOrd="0" destOrd="0" presId="urn:microsoft.com/office/officeart/2005/8/layout/process1"/>
    <dgm:cxn modelId="{D775BA5E-B4C7-4B3A-8637-7C78CBB1B8C2}" type="presOf" srcId="{A55D2C4A-6704-43AA-8AF4-8B759686E908}" destId="{A873B829-EC37-4A8F-96FF-E4EE504A7863}" srcOrd="0" destOrd="0" presId="urn:microsoft.com/office/officeart/2005/8/layout/process1"/>
    <dgm:cxn modelId="{57263342-A23B-48B5-9502-EA08ED4E0BB3}" type="presOf" srcId="{B3CB2902-E305-4AC5-BD60-D54AE1909F6E}" destId="{1E6EDBF1-7FAF-46E1-A9E5-E48910DFB7A1}" srcOrd="0" destOrd="0" presId="urn:microsoft.com/office/officeart/2005/8/layout/process1"/>
    <dgm:cxn modelId="{63CDB24C-2437-47FA-B9F9-89F96308F695}" type="presOf" srcId="{4D427870-A537-4026-9510-952BD4072ACC}" destId="{643ED956-6AD1-4AC4-9B25-D8C8A4DDDA3B}" srcOrd="0" destOrd="0" presId="urn:microsoft.com/office/officeart/2005/8/layout/process1"/>
    <dgm:cxn modelId="{74A1844D-461D-47F0-AF3B-437DA7262348}" type="presOf" srcId="{D2D6B7CB-76A2-49B8-9E37-BB9E76B4C1B5}" destId="{8EA0AFBA-CF48-4282-B179-A604712B3262}" srcOrd="0" destOrd="0" presId="urn:microsoft.com/office/officeart/2005/8/layout/process1"/>
    <dgm:cxn modelId="{A6EC3F7F-F2B1-4C75-B89B-F35BBD46836D}" srcId="{D2D6B7CB-76A2-49B8-9E37-BB9E76B4C1B5}" destId="{8A8AAE82-516B-4FF5-9ED0-FB7AD0B988B3}" srcOrd="2" destOrd="0" parTransId="{84110FFC-1202-4E44-82DD-B4876CECD6AC}" sibTransId="{B3CB2902-E305-4AC5-BD60-D54AE1909F6E}"/>
    <dgm:cxn modelId="{3707A680-77BB-4E3F-9640-592526D5C5CF}" type="presOf" srcId="{8A8AAE82-516B-4FF5-9ED0-FB7AD0B988B3}" destId="{EF219AC7-FDE7-42FF-9CE1-7DEDC68CDC6B}" srcOrd="0" destOrd="0" presId="urn:microsoft.com/office/officeart/2005/8/layout/process1"/>
    <dgm:cxn modelId="{865EBEAE-9DD4-4FCC-83A8-6C0755CCD550}" type="presOf" srcId="{B3CB2902-E305-4AC5-BD60-D54AE1909F6E}" destId="{03FA595C-3496-47A0-9288-B184BDD4F158}" srcOrd="1" destOrd="0" presId="urn:microsoft.com/office/officeart/2005/8/layout/process1"/>
    <dgm:cxn modelId="{773A2AB5-A3B0-4F21-B3BB-7341FA6664D6}" type="presOf" srcId="{E95BC6E7-0600-470F-9083-557156B02954}" destId="{9E8FE20A-D879-45E2-B033-38E0DFB40B27}" srcOrd="0" destOrd="0" presId="urn:microsoft.com/office/officeart/2005/8/layout/process1"/>
    <dgm:cxn modelId="{0647C9D8-8319-451F-A3CB-82E1E175ACC4}" type="presOf" srcId="{E2D36CF9-DD84-44ED-9206-883BE819E99C}" destId="{1A60335F-1C98-4343-BF3F-C40E2CA19972}" srcOrd="0" destOrd="0" presId="urn:microsoft.com/office/officeart/2005/8/layout/process1"/>
    <dgm:cxn modelId="{677E18DD-6DF5-41E4-93DB-8787D2577C3F}" srcId="{D2D6B7CB-76A2-49B8-9E37-BB9E76B4C1B5}" destId="{093B76AC-9D73-4DCC-955E-1212DB32C045}" srcOrd="1" destOrd="0" parTransId="{2307F48D-DB98-414A-BD16-F80797D017DE}" sibTransId="{35590513-CDCF-4606-A18C-FCE9C61220CB}"/>
    <dgm:cxn modelId="{B17465E2-A24E-47D1-9AA6-63F1D57FE2ED}" type="presOf" srcId="{3AA44752-7F80-410A-A18B-3E3031F7C160}" destId="{ADC1F7AD-A7FF-4B42-A650-ECB820862720}" srcOrd="1" destOrd="0" presId="urn:microsoft.com/office/officeart/2005/8/layout/process1"/>
    <dgm:cxn modelId="{9A878B7B-24CB-46B0-9917-B488EF1F1331}" type="presParOf" srcId="{8EA0AFBA-CF48-4282-B179-A604712B3262}" destId="{643ED956-6AD1-4AC4-9B25-D8C8A4DDDA3B}" srcOrd="0" destOrd="0" presId="urn:microsoft.com/office/officeart/2005/8/layout/process1"/>
    <dgm:cxn modelId="{B063CFF2-2DCA-4007-9AA2-6950B6A451D2}" type="presParOf" srcId="{8EA0AFBA-CF48-4282-B179-A604712B3262}" destId="{49D3CB3A-0AA7-4C8E-9FAA-10CC95EA0C64}" srcOrd="1" destOrd="0" presId="urn:microsoft.com/office/officeart/2005/8/layout/process1"/>
    <dgm:cxn modelId="{CBD7730A-9D77-4344-B000-95F1B658BD55}" type="presParOf" srcId="{49D3CB3A-0AA7-4C8E-9FAA-10CC95EA0C64}" destId="{ADC1F7AD-A7FF-4B42-A650-ECB820862720}" srcOrd="0" destOrd="0" presId="urn:microsoft.com/office/officeart/2005/8/layout/process1"/>
    <dgm:cxn modelId="{DC9F1EE6-92F0-4D8A-83F3-0169E2FE316D}" type="presParOf" srcId="{8EA0AFBA-CF48-4282-B179-A604712B3262}" destId="{09C15268-9715-4E5C-86D3-328836ED5F52}" srcOrd="2" destOrd="0" presId="urn:microsoft.com/office/officeart/2005/8/layout/process1"/>
    <dgm:cxn modelId="{199C3D2B-67B3-4391-A95B-CD3CBEEF98B1}" type="presParOf" srcId="{8EA0AFBA-CF48-4282-B179-A604712B3262}" destId="{364693ED-2E07-46EB-AB27-22CD849DF079}" srcOrd="3" destOrd="0" presId="urn:microsoft.com/office/officeart/2005/8/layout/process1"/>
    <dgm:cxn modelId="{433E6092-3A22-4921-A3E6-FC2E877FA632}" type="presParOf" srcId="{364693ED-2E07-46EB-AB27-22CD849DF079}" destId="{926B0204-D53A-462D-BB4D-20AF2ABECD55}" srcOrd="0" destOrd="0" presId="urn:microsoft.com/office/officeart/2005/8/layout/process1"/>
    <dgm:cxn modelId="{61C44A6B-6483-4E21-A6B0-4D7435A866E1}" type="presParOf" srcId="{8EA0AFBA-CF48-4282-B179-A604712B3262}" destId="{EF219AC7-FDE7-42FF-9CE1-7DEDC68CDC6B}" srcOrd="4" destOrd="0" presId="urn:microsoft.com/office/officeart/2005/8/layout/process1"/>
    <dgm:cxn modelId="{50FD9CEF-21E9-4D6F-9392-5AAA71888F7F}" type="presParOf" srcId="{8EA0AFBA-CF48-4282-B179-A604712B3262}" destId="{1E6EDBF1-7FAF-46E1-A9E5-E48910DFB7A1}" srcOrd="5" destOrd="0" presId="urn:microsoft.com/office/officeart/2005/8/layout/process1"/>
    <dgm:cxn modelId="{7BAD939F-7E46-4A4D-9A95-EFB16C4D5A76}" type="presParOf" srcId="{1E6EDBF1-7FAF-46E1-A9E5-E48910DFB7A1}" destId="{03FA595C-3496-47A0-9288-B184BDD4F158}" srcOrd="0" destOrd="0" presId="urn:microsoft.com/office/officeart/2005/8/layout/process1"/>
    <dgm:cxn modelId="{152BCAF4-006E-4E30-ACDE-2625020816C0}" type="presParOf" srcId="{8EA0AFBA-CF48-4282-B179-A604712B3262}" destId="{9E8FE20A-D879-45E2-B033-38E0DFB40B27}" srcOrd="6" destOrd="0" presId="urn:microsoft.com/office/officeart/2005/8/layout/process1"/>
    <dgm:cxn modelId="{59311FF9-5320-4DB2-A90F-54B2793F3841}" type="presParOf" srcId="{8EA0AFBA-CF48-4282-B179-A604712B3262}" destId="{1A60335F-1C98-4343-BF3F-C40E2CA19972}" srcOrd="7" destOrd="0" presId="urn:microsoft.com/office/officeart/2005/8/layout/process1"/>
    <dgm:cxn modelId="{A99A6A17-0A2B-4288-86B8-752449509293}" type="presParOf" srcId="{1A60335F-1C98-4343-BF3F-C40E2CA19972}" destId="{26C0F159-4114-4A37-84F1-505D52963808}" srcOrd="0" destOrd="0" presId="urn:microsoft.com/office/officeart/2005/8/layout/process1"/>
    <dgm:cxn modelId="{E3B0F7B5-9781-4408-B0F6-24F7EC4B0BF5}" type="presParOf" srcId="{8EA0AFBA-CF48-4282-B179-A604712B3262}" destId="{A873B829-EC37-4A8F-96FF-E4EE504A7863}"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EEB8979-650E-43C3-A08C-91F377302EF1}" type="doc">
      <dgm:prSet loTypeId="urn:microsoft.com/office/officeart/2005/8/layout/vList2" loCatId="list" qsTypeId="urn:microsoft.com/office/officeart/2005/8/quickstyle/simple1" qsCatId="simple" csTypeId="urn:microsoft.com/office/officeart/2005/8/colors/accent2_2" csCatId="accent2" phldr="1"/>
      <dgm:spPr/>
      <dgm:t>
        <a:bodyPr/>
        <a:lstStyle/>
        <a:p>
          <a:endParaRPr lang="en-US"/>
        </a:p>
      </dgm:t>
    </dgm:pt>
    <dgm:pt modelId="{C3FD9148-0880-42DB-8054-E2C71D80C179}">
      <dgm:prSet phldrT="[Text]" phldr="0"/>
      <dgm:spPr/>
      <dgm:t>
        <a:bodyPr/>
        <a:lstStyle/>
        <a:p>
          <a:pPr rtl="0"/>
          <a:r>
            <a:rPr lang="en-US"/>
            <a:t>India generated the highest rental revenue</a:t>
          </a:r>
        </a:p>
      </dgm:t>
    </dgm:pt>
    <dgm:pt modelId="{5A52C478-B04C-46C3-828F-52F155DB9C87}" type="parTrans" cxnId="{999E1BBF-DA77-4FCB-8EF9-FC5B7A2D7BFF}">
      <dgm:prSet/>
      <dgm:spPr/>
    </dgm:pt>
    <dgm:pt modelId="{E5DE6B7A-281E-4343-BA40-BAB0F2625355}" type="sibTrans" cxnId="{999E1BBF-DA77-4FCB-8EF9-FC5B7A2D7BFF}">
      <dgm:prSet/>
      <dgm:spPr/>
      <dgm:t>
        <a:bodyPr/>
        <a:lstStyle/>
        <a:p>
          <a:endParaRPr lang="en-US"/>
        </a:p>
      </dgm:t>
    </dgm:pt>
    <dgm:pt modelId="{4490350F-9E8B-4C87-BB90-6FC0CBBCF15B}">
      <dgm:prSet phldrT="[Text]" phldr="0"/>
      <dgm:spPr/>
      <dgm:t>
        <a:bodyPr/>
        <a:lstStyle/>
        <a:p>
          <a:pPr rtl="0"/>
          <a:r>
            <a:rPr lang="en-US"/>
            <a:t>Online payments contributed the highest sales share</a:t>
          </a:r>
        </a:p>
      </dgm:t>
    </dgm:pt>
    <dgm:pt modelId="{1A98C96B-BF8D-4468-8149-A0715F517D40}" type="parTrans" cxnId="{E3AA25A0-1A04-4DF0-8F9C-37FCDA3E1A9A}">
      <dgm:prSet/>
      <dgm:spPr/>
    </dgm:pt>
    <dgm:pt modelId="{DB57FB05-870C-4F12-9254-D67CC2A42441}" type="sibTrans" cxnId="{E3AA25A0-1A04-4DF0-8F9C-37FCDA3E1A9A}">
      <dgm:prSet/>
      <dgm:spPr/>
      <dgm:t>
        <a:bodyPr/>
        <a:lstStyle/>
        <a:p>
          <a:endParaRPr lang="en-US"/>
        </a:p>
      </dgm:t>
    </dgm:pt>
    <dgm:pt modelId="{C42A0485-DD36-498C-BF94-F2448E9677C7}">
      <dgm:prSet phldrT="[Text]" phldr="0"/>
      <dgm:spPr/>
      <dgm:t>
        <a:bodyPr/>
        <a:lstStyle/>
        <a:p>
          <a:pPr rtl="0"/>
          <a:r>
            <a:rPr lang="en-US"/>
            <a:t>Active customers drove most of the revenue</a:t>
          </a:r>
        </a:p>
      </dgm:t>
    </dgm:pt>
    <dgm:pt modelId="{89125805-C3A3-4D34-8305-7031F32BB1BE}" type="parTrans" cxnId="{42DB3DA5-05AE-45C5-BE5E-8CC5667A0CF6}">
      <dgm:prSet/>
      <dgm:spPr/>
    </dgm:pt>
    <dgm:pt modelId="{F390EFE3-8682-40E4-9092-BBB5857DCBBF}" type="sibTrans" cxnId="{42DB3DA5-05AE-45C5-BE5E-8CC5667A0CF6}">
      <dgm:prSet/>
      <dgm:spPr/>
      <dgm:t>
        <a:bodyPr/>
        <a:lstStyle/>
        <a:p>
          <a:endParaRPr lang="en-US"/>
        </a:p>
      </dgm:t>
    </dgm:pt>
    <dgm:pt modelId="{C75A73AF-09D6-4E8D-8B7E-E4B922E46AEF}">
      <dgm:prSet phldrT="[Text]" phldr="0"/>
      <dgm:spPr/>
      <dgm:t>
        <a:bodyPr/>
        <a:lstStyle/>
        <a:p>
          <a:pPr rtl="0"/>
          <a:r>
            <a:rPr lang="en-US" dirty="0"/>
            <a:t>Action was the top-performing film category</a:t>
          </a:r>
          <a:endParaRPr lang="en-US" dirty="0">
            <a:latin typeface="Trade Gothic Next Cond"/>
          </a:endParaRPr>
        </a:p>
      </dgm:t>
    </dgm:pt>
    <dgm:pt modelId="{78AB2856-66E7-4A46-B1C3-F858F0E7BBA5}" type="parTrans" cxnId="{33A2F3CF-2E0C-4E11-AA1F-54D5FFDA218A}">
      <dgm:prSet/>
      <dgm:spPr/>
    </dgm:pt>
    <dgm:pt modelId="{B686D0D8-16BA-40C4-B81C-2E0B3C842CC6}" type="sibTrans" cxnId="{33A2F3CF-2E0C-4E11-AA1F-54D5FFDA218A}">
      <dgm:prSet/>
      <dgm:spPr/>
      <dgm:t>
        <a:bodyPr/>
        <a:lstStyle/>
        <a:p>
          <a:endParaRPr lang="en-US"/>
        </a:p>
      </dgm:t>
    </dgm:pt>
    <dgm:pt modelId="{BFABE234-1F24-4CB8-8813-82201ABBCF66}">
      <dgm:prSet phldrT="[Text]" phldr="0"/>
      <dgm:spPr/>
      <dgm:t>
        <a:bodyPr/>
        <a:lstStyle/>
        <a:p>
          <a:r>
            <a:rPr lang="en-US" dirty="0"/>
            <a:t>Revenue increased significantly during peak months</a:t>
          </a:r>
          <a:endParaRPr lang="en-US" dirty="0">
            <a:latin typeface="Trade Gothic Next Cond"/>
          </a:endParaRPr>
        </a:p>
      </dgm:t>
    </dgm:pt>
    <dgm:pt modelId="{71BA4DB8-6B58-48C5-9633-2EFB91C655D0}" type="parTrans" cxnId="{2734713D-1F72-4C06-8ED0-E9BB215A02D8}">
      <dgm:prSet/>
      <dgm:spPr/>
    </dgm:pt>
    <dgm:pt modelId="{8F420F93-CE52-4D68-AF86-311186C9DEC0}" type="sibTrans" cxnId="{2734713D-1F72-4C06-8ED0-E9BB215A02D8}">
      <dgm:prSet/>
      <dgm:spPr/>
    </dgm:pt>
    <dgm:pt modelId="{D4114F44-7141-4DA7-8599-762E9C7834CA}" type="pres">
      <dgm:prSet presAssocID="{2EEB8979-650E-43C3-A08C-91F377302EF1}" presName="linear" presStyleCnt="0">
        <dgm:presLayoutVars>
          <dgm:animLvl val="lvl"/>
          <dgm:resizeHandles val="exact"/>
        </dgm:presLayoutVars>
      </dgm:prSet>
      <dgm:spPr/>
    </dgm:pt>
    <dgm:pt modelId="{2E24F7DA-FECC-4716-826A-97C3A4860C11}" type="pres">
      <dgm:prSet presAssocID="{C3FD9148-0880-42DB-8054-E2C71D80C179}" presName="parentText" presStyleLbl="node1" presStyleIdx="0" presStyleCnt="5">
        <dgm:presLayoutVars>
          <dgm:chMax val="0"/>
          <dgm:bulletEnabled val="1"/>
        </dgm:presLayoutVars>
      </dgm:prSet>
      <dgm:spPr/>
    </dgm:pt>
    <dgm:pt modelId="{C1C7836A-D046-4035-AD6D-D45403C10422}" type="pres">
      <dgm:prSet presAssocID="{E5DE6B7A-281E-4343-BA40-BAB0F2625355}" presName="spacer" presStyleCnt="0"/>
      <dgm:spPr/>
    </dgm:pt>
    <dgm:pt modelId="{932D29A1-ACE8-4BA2-90D6-5D0B5D40D7D9}" type="pres">
      <dgm:prSet presAssocID="{4490350F-9E8B-4C87-BB90-6FC0CBBCF15B}" presName="parentText" presStyleLbl="node1" presStyleIdx="1" presStyleCnt="5">
        <dgm:presLayoutVars>
          <dgm:chMax val="0"/>
          <dgm:bulletEnabled val="1"/>
        </dgm:presLayoutVars>
      </dgm:prSet>
      <dgm:spPr/>
    </dgm:pt>
    <dgm:pt modelId="{91363254-FA8A-48B6-8945-3628F65C37A9}" type="pres">
      <dgm:prSet presAssocID="{DB57FB05-870C-4F12-9254-D67CC2A42441}" presName="spacer" presStyleCnt="0"/>
      <dgm:spPr/>
    </dgm:pt>
    <dgm:pt modelId="{95ECADED-DD75-4E8E-838D-C995351D6AD3}" type="pres">
      <dgm:prSet presAssocID="{C42A0485-DD36-498C-BF94-F2448E9677C7}" presName="parentText" presStyleLbl="node1" presStyleIdx="2" presStyleCnt="5">
        <dgm:presLayoutVars>
          <dgm:chMax val="0"/>
          <dgm:bulletEnabled val="1"/>
        </dgm:presLayoutVars>
      </dgm:prSet>
      <dgm:spPr/>
    </dgm:pt>
    <dgm:pt modelId="{776512FF-FEA8-40BD-9052-A046FF78A4BC}" type="pres">
      <dgm:prSet presAssocID="{F390EFE3-8682-40E4-9092-BBB5857DCBBF}" presName="spacer" presStyleCnt="0"/>
      <dgm:spPr/>
    </dgm:pt>
    <dgm:pt modelId="{A624D78F-C93A-4970-854C-24D76A0C5488}" type="pres">
      <dgm:prSet presAssocID="{C75A73AF-09D6-4E8D-8B7E-E4B922E46AEF}" presName="parentText" presStyleLbl="node1" presStyleIdx="3" presStyleCnt="5">
        <dgm:presLayoutVars>
          <dgm:chMax val="0"/>
          <dgm:bulletEnabled val="1"/>
        </dgm:presLayoutVars>
      </dgm:prSet>
      <dgm:spPr/>
    </dgm:pt>
    <dgm:pt modelId="{637ADD81-EA26-4F4B-BBA4-4BE99D747679}" type="pres">
      <dgm:prSet presAssocID="{B686D0D8-16BA-40C4-B81C-2E0B3C842CC6}" presName="spacer" presStyleCnt="0"/>
      <dgm:spPr/>
    </dgm:pt>
    <dgm:pt modelId="{A7C6E053-2E8B-461D-90E0-16A043BB6221}" type="pres">
      <dgm:prSet presAssocID="{BFABE234-1F24-4CB8-8813-82201ABBCF66}" presName="parentText" presStyleLbl="node1" presStyleIdx="4" presStyleCnt="5">
        <dgm:presLayoutVars>
          <dgm:chMax val="0"/>
          <dgm:bulletEnabled val="1"/>
        </dgm:presLayoutVars>
      </dgm:prSet>
      <dgm:spPr/>
    </dgm:pt>
  </dgm:ptLst>
  <dgm:cxnLst>
    <dgm:cxn modelId="{58CCC128-A247-47B5-A9B3-E107D46B9F29}" type="presOf" srcId="{C3FD9148-0880-42DB-8054-E2C71D80C179}" destId="{2E24F7DA-FECC-4716-826A-97C3A4860C11}" srcOrd="0" destOrd="0" presId="urn:microsoft.com/office/officeart/2005/8/layout/vList2"/>
    <dgm:cxn modelId="{2734713D-1F72-4C06-8ED0-E9BB215A02D8}" srcId="{2EEB8979-650E-43C3-A08C-91F377302EF1}" destId="{BFABE234-1F24-4CB8-8813-82201ABBCF66}" srcOrd="4" destOrd="0" parTransId="{71BA4DB8-6B58-48C5-9633-2EFB91C655D0}" sibTransId="{8F420F93-CE52-4D68-AF86-311186C9DEC0}"/>
    <dgm:cxn modelId="{148BC67E-81A9-40E0-BCD3-2E478E36C1B8}" type="presOf" srcId="{C75A73AF-09D6-4E8D-8B7E-E4B922E46AEF}" destId="{A624D78F-C93A-4970-854C-24D76A0C5488}" srcOrd="0" destOrd="0" presId="urn:microsoft.com/office/officeart/2005/8/layout/vList2"/>
    <dgm:cxn modelId="{39115499-6F74-4B99-8137-32D2B5EA4855}" type="presOf" srcId="{2EEB8979-650E-43C3-A08C-91F377302EF1}" destId="{D4114F44-7141-4DA7-8599-762E9C7834CA}" srcOrd="0" destOrd="0" presId="urn:microsoft.com/office/officeart/2005/8/layout/vList2"/>
    <dgm:cxn modelId="{E3AA25A0-1A04-4DF0-8F9C-37FCDA3E1A9A}" srcId="{2EEB8979-650E-43C3-A08C-91F377302EF1}" destId="{4490350F-9E8B-4C87-BB90-6FC0CBBCF15B}" srcOrd="1" destOrd="0" parTransId="{1A98C96B-BF8D-4468-8149-A0715F517D40}" sibTransId="{DB57FB05-870C-4F12-9254-D67CC2A42441}"/>
    <dgm:cxn modelId="{42DB3DA5-05AE-45C5-BE5E-8CC5667A0CF6}" srcId="{2EEB8979-650E-43C3-A08C-91F377302EF1}" destId="{C42A0485-DD36-498C-BF94-F2448E9677C7}" srcOrd="2" destOrd="0" parTransId="{89125805-C3A3-4D34-8305-7031F32BB1BE}" sibTransId="{F390EFE3-8682-40E4-9092-BBB5857DCBBF}"/>
    <dgm:cxn modelId="{5CC46BB3-2149-4ED1-B8C1-7488A5AFADC2}" type="presOf" srcId="{BFABE234-1F24-4CB8-8813-82201ABBCF66}" destId="{A7C6E053-2E8B-461D-90E0-16A043BB6221}" srcOrd="0" destOrd="0" presId="urn:microsoft.com/office/officeart/2005/8/layout/vList2"/>
    <dgm:cxn modelId="{5F9D3ABE-80C8-40AE-B530-82125C7207A5}" type="presOf" srcId="{C42A0485-DD36-498C-BF94-F2448E9677C7}" destId="{95ECADED-DD75-4E8E-838D-C995351D6AD3}" srcOrd="0" destOrd="0" presId="urn:microsoft.com/office/officeart/2005/8/layout/vList2"/>
    <dgm:cxn modelId="{999E1BBF-DA77-4FCB-8EF9-FC5B7A2D7BFF}" srcId="{2EEB8979-650E-43C3-A08C-91F377302EF1}" destId="{C3FD9148-0880-42DB-8054-E2C71D80C179}" srcOrd="0" destOrd="0" parTransId="{5A52C478-B04C-46C3-828F-52F155DB9C87}" sibTransId="{E5DE6B7A-281E-4343-BA40-BAB0F2625355}"/>
    <dgm:cxn modelId="{7C4760C4-BD9E-44C3-B911-AE7F3A0A7DBC}" type="presOf" srcId="{4490350F-9E8B-4C87-BB90-6FC0CBBCF15B}" destId="{932D29A1-ACE8-4BA2-90D6-5D0B5D40D7D9}" srcOrd="0" destOrd="0" presId="urn:microsoft.com/office/officeart/2005/8/layout/vList2"/>
    <dgm:cxn modelId="{33A2F3CF-2E0C-4E11-AA1F-54D5FFDA218A}" srcId="{2EEB8979-650E-43C3-A08C-91F377302EF1}" destId="{C75A73AF-09D6-4E8D-8B7E-E4B922E46AEF}" srcOrd="3" destOrd="0" parTransId="{78AB2856-66E7-4A46-B1C3-F858F0E7BBA5}" sibTransId="{B686D0D8-16BA-40C4-B81C-2E0B3C842CC6}"/>
    <dgm:cxn modelId="{FF0F62BE-88B0-48F8-921E-CFA6909210EF}" type="presParOf" srcId="{D4114F44-7141-4DA7-8599-762E9C7834CA}" destId="{2E24F7DA-FECC-4716-826A-97C3A4860C11}" srcOrd="0" destOrd="0" presId="urn:microsoft.com/office/officeart/2005/8/layout/vList2"/>
    <dgm:cxn modelId="{D6345278-6ABA-4EA6-A508-434A71356F18}" type="presParOf" srcId="{D4114F44-7141-4DA7-8599-762E9C7834CA}" destId="{C1C7836A-D046-4035-AD6D-D45403C10422}" srcOrd="1" destOrd="0" presId="urn:microsoft.com/office/officeart/2005/8/layout/vList2"/>
    <dgm:cxn modelId="{5884F336-804B-48FA-9AEA-821AD1F9354F}" type="presParOf" srcId="{D4114F44-7141-4DA7-8599-762E9C7834CA}" destId="{932D29A1-ACE8-4BA2-90D6-5D0B5D40D7D9}" srcOrd="2" destOrd="0" presId="urn:microsoft.com/office/officeart/2005/8/layout/vList2"/>
    <dgm:cxn modelId="{014F546D-5674-4105-B4DB-3602E3633A84}" type="presParOf" srcId="{D4114F44-7141-4DA7-8599-762E9C7834CA}" destId="{91363254-FA8A-48B6-8945-3628F65C37A9}" srcOrd="3" destOrd="0" presId="urn:microsoft.com/office/officeart/2005/8/layout/vList2"/>
    <dgm:cxn modelId="{0D588992-94E4-4C8D-A6A7-420A554EEBA6}" type="presParOf" srcId="{D4114F44-7141-4DA7-8599-762E9C7834CA}" destId="{95ECADED-DD75-4E8E-838D-C995351D6AD3}" srcOrd="4" destOrd="0" presId="urn:microsoft.com/office/officeart/2005/8/layout/vList2"/>
    <dgm:cxn modelId="{7B2CA9B8-420A-4B9A-B288-FDC419A63ACD}" type="presParOf" srcId="{D4114F44-7141-4DA7-8599-762E9C7834CA}" destId="{776512FF-FEA8-40BD-9052-A046FF78A4BC}" srcOrd="5" destOrd="0" presId="urn:microsoft.com/office/officeart/2005/8/layout/vList2"/>
    <dgm:cxn modelId="{56D67858-D4DD-4286-B159-656C302D1661}" type="presParOf" srcId="{D4114F44-7141-4DA7-8599-762E9C7834CA}" destId="{A624D78F-C93A-4970-854C-24D76A0C5488}" srcOrd="6" destOrd="0" presId="urn:microsoft.com/office/officeart/2005/8/layout/vList2"/>
    <dgm:cxn modelId="{72DEB02D-CD25-4C60-A6C7-420A2295BDAE}" type="presParOf" srcId="{D4114F44-7141-4DA7-8599-762E9C7834CA}" destId="{637ADD81-EA26-4F4B-BBA4-4BE99D747679}" srcOrd="7" destOrd="0" presId="urn:microsoft.com/office/officeart/2005/8/layout/vList2"/>
    <dgm:cxn modelId="{FFBF03D5-DB08-43B3-AA2C-55E83AE29DEE}" type="presParOf" srcId="{D4114F44-7141-4DA7-8599-762E9C7834CA}" destId="{A7C6E053-2E8B-461D-90E0-16A043BB6221}"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EEB8979-650E-43C3-A08C-91F377302EF1}" type="doc">
      <dgm:prSet loTypeId="urn:microsoft.com/office/officeart/2005/8/layout/vList2" loCatId="list" qsTypeId="urn:microsoft.com/office/officeart/2005/8/quickstyle/simple1" qsCatId="simple" csTypeId="urn:microsoft.com/office/officeart/2005/8/colors/accent2_2" csCatId="accent2" phldr="1"/>
      <dgm:spPr/>
      <dgm:t>
        <a:bodyPr/>
        <a:lstStyle/>
        <a:p>
          <a:endParaRPr lang="en-US"/>
        </a:p>
      </dgm:t>
    </dgm:pt>
    <dgm:pt modelId="{C3FD9148-0880-42DB-8054-E2C71D80C179}">
      <dgm:prSet phldrT="[Text]" phldr="0"/>
      <dgm:spPr/>
      <dgm:t>
        <a:bodyPr/>
        <a:lstStyle/>
        <a:p>
          <a:pPr algn="l" rtl="0">
            <a:lnSpc>
              <a:spcPct val="90000"/>
            </a:lnSpc>
          </a:pPr>
          <a:r>
            <a:rPr lang="en-US" sz="1500" dirty="0">
              <a:latin typeface="Trade Gothic Next Light"/>
              <a:ea typeface="+mn-ea"/>
              <a:cs typeface="+mn-cs"/>
            </a:rPr>
            <a:t>Geographic regions showed uneven revenue distribution</a:t>
          </a:r>
        </a:p>
      </dgm:t>
    </dgm:pt>
    <dgm:pt modelId="{5A52C478-B04C-46C3-828F-52F155DB9C87}" type="parTrans" cxnId="{999E1BBF-DA77-4FCB-8EF9-FC5B7A2D7BFF}">
      <dgm:prSet/>
      <dgm:spPr/>
    </dgm:pt>
    <dgm:pt modelId="{E5DE6B7A-281E-4343-BA40-BAB0F2625355}" type="sibTrans" cxnId="{999E1BBF-DA77-4FCB-8EF9-FC5B7A2D7BFF}">
      <dgm:prSet/>
      <dgm:spPr/>
      <dgm:t>
        <a:bodyPr/>
        <a:lstStyle/>
        <a:p>
          <a:endParaRPr lang="en-US"/>
        </a:p>
      </dgm:t>
    </dgm:pt>
    <dgm:pt modelId="{4490350F-9E8B-4C87-BB90-6FC0CBBCF15B}">
      <dgm:prSet phldrT="[Text]" phldr="0"/>
      <dgm:spPr/>
      <dgm:t>
        <a:bodyPr/>
        <a:lstStyle/>
        <a:p>
          <a:pPr algn="l" rtl="0">
            <a:lnSpc>
              <a:spcPct val="90000"/>
            </a:lnSpc>
          </a:pPr>
          <a:r>
            <a:rPr lang="en-US" sz="1500" dirty="0">
              <a:latin typeface="Trade Gothic Next Light"/>
              <a:ea typeface="+mn-ea"/>
              <a:cs typeface="+mn-cs"/>
            </a:rPr>
            <a:t>Payment preferences influenced sales performance</a:t>
          </a:r>
        </a:p>
      </dgm:t>
    </dgm:pt>
    <dgm:pt modelId="{1A98C96B-BF8D-4468-8149-A0715F517D40}" type="parTrans" cxnId="{E3AA25A0-1A04-4DF0-8F9C-37FCDA3E1A9A}">
      <dgm:prSet/>
      <dgm:spPr/>
    </dgm:pt>
    <dgm:pt modelId="{DB57FB05-870C-4F12-9254-D67CC2A42441}" type="sibTrans" cxnId="{E3AA25A0-1A04-4DF0-8F9C-37FCDA3E1A9A}">
      <dgm:prSet/>
      <dgm:spPr/>
      <dgm:t>
        <a:bodyPr/>
        <a:lstStyle/>
        <a:p>
          <a:endParaRPr lang="en-US"/>
        </a:p>
      </dgm:t>
    </dgm:pt>
    <dgm:pt modelId="{BFABE234-1F24-4CB8-8813-82201ABBCF66}">
      <dgm:prSet phldrT="[Text]" phldr="0"/>
      <dgm:spPr/>
      <dgm:t>
        <a:bodyPr/>
        <a:lstStyle/>
        <a:p>
          <a:pPr algn="l" rtl="0">
            <a:lnSpc>
              <a:spcPct val="90000"/>
            </a:lnSpc>
          </a:pPr>
          <a:r>
            <a:rPr lang="en-US" sz="1500" dirty="0">
              <a:latin typeface="Trade Gothic Next Light"/>
              <a:ea typeface="+mn-ea"/>
              <a:cs typeface="+mn-cs"/>
            </a:rPr>
            <a:t>Interactive dashboards improved business analysis</a:t>
          </a:r>
        </a:p>
      </dgm:t>
    </dgm:pt>
    <dgm:pt modelId="{71BA4DB8-6B58-48C5-9633-2EFB91C655D0}" type="parTrans" cxnId="{2734713D-1F72-4C06-8ED0-E9BB215A02D8}">
      <dgm:prSet/>
      <dgm:spPr/>
    </dgm:pt>
    <dgm:pt modelId="{8F420F93-CE52-4D68-AF86-311186C9DEC0}" type="sibTrans" cxnId="{2734713D-1F72-4C06-8ED0-E9BB215A02D8}">
      <dgm:prSet/>
      <dgm:spPr/>
    </dgm:pt>
    <dgm:pt modelId="{0E9E31C8-488B-44F7-B011-A6B661256F79}">
      <dgm:prSet phldrT="[Text]" phldr="0"/>
      <dgm:spPr/>
      <dgm:t>
        <a:bodyPr/>
        <a:lstStyle/>
        <a:p>
          <a:pPr algn="l" rtl="0">
            <a:lnSpc>
              <a:spcPct val="90000"/>
            </a:lnSpc>
          </a:pPr>
          <a:r>
            <a:rPr lang="en-US" sz="1500" dirty="0">
              <a:latin typeface="Trade Gothic Next Light"/>
              <a:ea typeface="+mn-ea"/>
              <a:cs typeface="+mn-cs"/>
            </a:rPr>
            <a:t>Inventory diversity supported rental demand</a:t>
          </a:r>
        </a:p>
      </dgm:t>
    </dgm:pt>
    <dgm:pt modelId="{122B67D8-6981-4E05-B1FB-83037E68B650}" type="parTrans" cxnId="{6A76ACF1-EEED-446D-BE63-E35C9627697A}">
      <dgm:prSet/>
      <dgm:spPr/>
    </dgm:pt>
    <dgm:pt modelId="{51AF44B2-311E-4C1D-A013-24CE4BCFD6DC}" type="sibTrans" cxnId="{6A76ACF1-EEED-446D-BE63-E35C9627697A}">
      <dgm:prSet/>
      <dgm:spPr/>
    </dgm:pt>
    <dgm:pt modelId="{F0E163A4-2987-4256-BEE7-33CC39C0D1C2}">
      <dgm:prSet phldrT="[Text]" phldr="0"/>
      <dgm:spPr/>
      <dgm:t>
        <a:bodyPr/>
        <a:lstStyle/>
        <a:p>
          <a:pPr algn="l" rtl="0">
            <a:lnSpc>
              <a:spcPct val="90000"/>
            </a:lnSpc>
          </a:pPr>
          <a:r>
            <a:rPr lang="en-US" sz="1500" dirty="0">
              <a:latin typeface="Trade Gothic Next Light"/>
              <a:ea typeface="+mn-ea"/>
              <a:cs typeface="+mn-cs"/>
            </a:rPr>
            <a:t>Customer behavior strongly impacted revenue trends</a:t>
          </a:r>
        </a:p>
      </dgm:t>
    </dgm:pt>
    <dgm:pt modelId="{C04BFF55-B20B-4810-8C4A-AC21D0C6B219}" type="parTrans" cxnId="{7F6BD414-B5D8-412F-8DC7-6D0F556B02C4}">
      <dgm:prSet/>
      <dgm:spPr/>
    </dgm:pt>
    <dgm:pt modelId="{5E2D49F5-C926-4D57-ACF8-E6E92A3E0595}" type="sibTrans" cxnId="{7F6BD414-B5D8-412F-8DC7-6D0F556B02C4}">
      <dgm:prSet/>
      <dgm:spPr/>
    </dgm:pt>
    <dgm:pt modelId="{D4114F44-7141-4DA7-8599-762E9C7834CA}" type="pres">
      <dgm:prSet presAssocID="{2EEB8979-650E-43C3-A08C-91F377302EF1}" presName="linear" presStyleCnt="0">
        <dgm:presLayoutVars>
          <dgm:animLvl val="lvl"/>
          <dgm:resizeHandles val="exact"/>
        </dgm:presLayoutVars>
      </dgm:prSet>
      <dgm:spPr/>
    </dgm:pt>
    <dgm:pt modelId="{2E24F7DA-FECC-4716-826A-97C3A4860C11}" type="pres">
      <dgm:prSet presAssocID="{C3FD9148-0880-42DB-8054-E2C71D80C179}" presName="parentText" presStyleLbl="node1" presStyleIdx="0" presStyleCnt="5">
        <dgm:presLayoutVars>
          <dgm:chMax val="0"/>
          <dgm:bulletEnabled val="1"/>
        </dgm:presLayoutVars>
      </dgm:prSet>
      <dgm:spPr/>
    </dgm:pt>
    <dgm:pt modelId="{C1C7836A-D046-4035-AD6D-D45403C10422}" type="pres">
      <dgm:prSet presAssocID="{E5DE6B7A-281E-4343-BA40-BAB0F2625355}" presName="spacer" presStyleCnt="0"/>
      <dgm:spPr/>
    </dgm:pt>
    <dgm:pt modelId="{FAF08D56-FF6F-4A13-A2EB-D6B5405106D8}" type="pres">
      <dgm:prSet presAssocID="{F0E163A4-2987-4256-BEE7-33CC39C0D1C2}" presName="parentText" presStyleLbl="node1" presStyleIdx="1" presStyleCnt="5">
        <dgm:presLayoutVars>
          <dgm:chMax val="0"/>
          <dgm:bulletEnabled val="1"/>
        </dgm:presLayoutVars>
      </dgm:prSet>
      <dgm:spPr/>
    </dgm:pt>
    <dgm:pt modelId="{FADC3542-E8F7-4558-BFAF-31DB565A2785}" type="pres">
      <dgm:prSet presAssocID="{5E2D49F5-C926-4D57-ACF8-E6E92A3E0595}" presName="spacer" presStyleCnt="0"/>
      <dgm:spPr/>
    </dgm:pt>
    <dgm:pt modelId="{932D29A1-ACE8-4BA2-90D6-5D0B5D40D7D9}" type="pres">
      <dgm:prSet presAssocID="{4490350F-9E8B-4C87-BB90-6FC0CBBCF15B}" presName="parentText" presStyleLbl="node1" presStyleIdx="2" presStyleCnt="5">
        <dgm:presLayoutVars>
          <dgm:chMax val="0"/>
          <dgm:bulletEnabled val="1"/>
        </dgm:presLayoutVars>
      </dgm:prSet>
      <dgm:spPr/>
    </dgm:pt>
    <dgm:pt modelId="{91363254-FA8A-48B6-8945-3628F65C37A9}" type="pres">
      <dgm:prSet presAssocID="{DB57FB05-870C-4F12-9254-D67CC2A42441}" presName="spacer" presStyleCnt="0"/>
      <dgm:spPr/>
    </dgm:pt>
    <dgm:pt modelId="{C0CB797A-5FB4-4FB6-901C-CDE68C0827EA}" type="pres">
      <dgm:prSet presAssocID="{0E9E31C8-488B-44F7-B011-A6B661256F79}" presName="parentText" presStyleLbl="node1" presStyleIdx="3" presStyleCnt="5">
        <dgm:presLayoutVars>
          <dgm:chMax val="0"/>
          <dgm:bulletEnabled val="1"/>
        </dgm:presLayoutVars>
      </dgm:prSet>
      <dgm:spPr/>
    </dgm:pt>
    <dgm:pt modelId="{C8B76DDB-D0BB-48EF-96B6-BBFC349E4715}" type="pres">
      <dgm:prSet presAssocID="{51AF44B2-311E-4C1D-A013-24CE4BCFD6DC}" presName="spacer" presStyleCnt="0"/>
      <dgm:spPr/>
    </dgm:pt>
    <dgm:pt modelId="{A7C6E053-2E8B-461D-90E0-16A043BB6221}" type="pres">
      <dgm:prSet presAssocID="{BFABE234-1F24-4CB8-8813-82201ABBCF66}" presName="parentText" presStyleLbl="node1" presStyleIdx="4" presStyleCnt="5">
        <dgm:presLayoutVars>
          <dgm:chMax val="0"/>
          <dgm:bulletEnabled val="1"/>
        </dgm:presLayoutVars>
      </dgm:prSet>
      <dgm:spPr/>
    </dgm:pt>
  </dgm:ptLst>
  <dgm:cxnLst>
    <dgm:cxn modelId="{18946F01-C4C3-415B-A8E4-42A05DB1BCA7}" type="presOf" srcId="{BFABE234-1F24-4CB8-8813-82201ABBCF66}" destId="{A7C6E053-2E8B-461D-90E0-16A043BB6221}" srcOrd="0" destOrd="0" presId="urn:microsoft.com/office/officeart/2005/8/layout/vList2"/>
    <dgm:cxn modelId="{7F6BD414-B5D8-412F-8DC7-6D0F556B02C4}" srcId="{2EEB8979-650E-43C3-A08C-91F377302EF1}" destId="{F0E163A4-2987-4256-BEE7-33CC39C0D1C2}" srcOrd="1" destOrd="0" parTransId="{C04BFF55-B20B-4810-8C4A-AC21D0C6B219}" sibTransId="{5E2D49F5-C926-4D57-ACF8-E6E92A3E0595}"/>
    <dgm:cxn modelId="{8EBD4032-7562-42FA-BCE4-B12F5C641FDE}" type="presOf" srcId="{4490350F-9E8B-4C87-BB90-6FC0CBBCF15B}" destId="{932D29A1-ACE8-4BA2-90D6-5D0B5D40D7D9}" srcOrd="0" destOrd="0" presId="urn:microsoft.com/office/officeart/2005/8/layout/vList2"/>
    <dgm:cxn modelId="{2734713D-1F72-4C06-8ED0-E9BB215A02D8}" srcId="{2EEB8979-650E-43C3-A08C-91F377302EF1}" destId="{BFABE234-1F24-4CB8-8813-82201ABBCF66}" srcOrd="4" destOrd="0" parTransId="{71BA4DB8-6B58-48C5-9633-2EFB91C655D0}" sibTransId="{8F420F93-CE52-4D68-AF86-311186C9DEC0}"/>
    <dgm:cxn modelId="{C64AC656-80B3-468C-B45B-E8964FA63DDE}" type="presOf" srcId="{C3FD9148-0880-42DB-8054-E2C71D80C179}" destId="{2E24F7DA-FECC-4716-826A-97C3A4860C11}" srcOrd="0" destOrd="0" presId="urn:microsoft.com/office/officeart/2005/8/layout/vList2"/>
    <dgm:cxn modelId="{36883F93-F998-4D47-BF2E-5BB5DC44E30C}" type="presOf" srcId="{0E9E31C8-488B-44F7-B011-A6B661256F79}" destId="{C0CB797A-5FB4-4FB6-901C-CDE68C0827EA}" srcOrd="0" destOrd="0" presId="urn:microsoft.com/office/officeart/2005/8/layout/vList2"/>
    <dgm:cxn modelId="{39115499-6F74-4B99-8137-32D2B5EA4855}" type="presOf" srcId="{2EEB8979-650E-43C3-A08C-91F377302EF1}" destId="{D4114F44-7141-4DA7-8599-762E9C7834CA}" srcOrd="0" destOrd="0" presId="urn:microsoft.com/office/officeart/2005/8/layout/vList2"/>
    <dgm:cxn modelId="{E3AA25A0-1A04-4DF0-8F9C-37FCDA3E1A9A}" srcId="{2EEB8979-650E-43C3-A08C-91F377302EF1}" destId="{4490350F-9E8B-4C87-BB90-6FC0CBBCF15B}" srcOrd="2" destOrd="0" parTransId="{1A98C96B-BF8D-4468-8149-A0715F517D40}" sibTransId="{DB57FB05-870C-4F12-9254-D67CC2A42441}"/>
    <dgm:cxn modelId="{999E1BBF-DA77-4FCB-8EF9-FC5B7A2D7BFF}" srcId="{2EEB8979-650E-43C3-A08C-91F377302EF1}" destId="{C3FD9148-0880-42DB-8054-E2C71D80C179}" srcOrd="0" destOrd="0" parTransId="{5A52C478-B04C-46C3-828F-52F155DB9C87}" sibTransId="{E5DE6B7A-281E-4343-BA40-BAB0F2625355}"/>
    <dgm:cxn modelId="{48C2AAC6-F514-48D7-B726-071BAB57D576}" type="presOf" srcId="{F0E163A4-2987-4256-BEE7-33CC39C0D1C2}" destId="{FAF08D56-FF6F-4A13-A2EB-D6B5405106D8}" srcOrd="0" destOrd="0" presId="urn:microsoft.com/office/officeart/2005/8/layout/vList2"/>
    <dgm:cxn modelId="{6A76ACF1-EEED-446D-BE63-E35C9627697A}" srcId="{2EEB8979-650E-43C3-A08C-91F377302EF1}" destId="{0E9E31C8-488B-44F7-B011-A6B661256F79}" srcOrd="3" destOrd="0" parTransId="{122B67D8-6981-4E05-B1FB-83037E68B650}" sibTransId="{51AF44B2-311E-4C1D-A013-24CE4BCFD6DC}"/>
    <dgm:cxn modelId="{CEC64C92-BEA7-469F-983F-51C4C80A4376}" type="presParOf" srcId="{D4114F44-7141-4DA7-8599-762E9C7834CA}" destId="{2E24F7DA-FECC-4716-826A-97C3A4860C11}" srcOrd="0" destOrd="0" presId="urn:microsoft.com/office/officeart/2005/8/layout/vList2"/>
    <dgm:cxn modelId="{0E04EB56-D050-424A-BD52-B9C51CD2C46E}" type="presParOf" srcId="{D4114F44-7141-4DA7-8599-762E9C7834CA}" destId="{C1C7836A-D046-4035-AD6D-D45403C10422}" srcOrd="1" destOrd="0" presId="urn:microsoft.com/office/officeart/2005/8/layout/vList2"/>
    <dgm:cxn modelId="{33D741D9-1BFD-41DB-8B70-71654DDBFF82}" type="presParOf" srcId="{D4114F44-7141-4DA7-8599-762E9C7834CA}" destId="{FAF08D56-FF6F-4A13-A2EB-D6B5405106D8}" srcOrd="2" destOrd="0" presId="urn:microsoft.com/office/officeart/2005/8/layout/vList2"/>
    <dgm:cxn modelId="{DEAD44BA-A53A-4A5E-9A36-8A39469248D1}" type="presParOf" srcId="{D4114F44-7141-4DA7-8599-762E9C7834CA}" destId="{FADC3542-E8F7-4558-BFAF-31DB565A2785}" srcOrd="3" destOrd="0" presId="urn:microsoft.com/office/officeart/2005/8/layout/vList2"/>
    <dgm:cxn modelId="{D270DFD6-9CD2-4C51-9B6C-82F5A24E1EF6}" type="presParOf" srcId="{D4114F44-7141-4DA7-8599-762E9C7834CA}" destId="{932D29A1-ACE8-4BA2-90D6-5D0B5D40D7D9}" srcOrd="4" destOrd="0" presId="urn:microsoft.com/office/officeart/2005/8/layout/vList2"/>
    <dgm:cxn modelId="{3E9768F5-BA69-4BD7-B8C5-BE30F3D9DD11}" type="presParOf" srcId="{D4114F44-7141-4DA7-8599-762E9C7834CA}" destId="{91363254-FA8A-48B6-8945-3628F65C37A9}" srcOrd="5" destOrd="0" presId="urn:microsoft.com/office/officeart/2005/8/layout/vList2"/>
    <dgm:cxn modelId="{E8E23D3D-2984-42E5-BCA9-1A2859220979}" type="presParOf" srcId="{D4114F44-7141-4DA7-8599-762E9C7834CA}" destId="{C0CB797A-5FB4-4FB6-901C-CDE68C0827EA}" srcOrd="6" destOrd="0" presId="urn:microsoft.com/office/officeart/2005/8/layout/vList2"/>
    <dgm:cxn modelId="{0D5DFBB8-AF61-409C-9C5F-612741947BEC}" type="presParOf" srcId="{D4114F44-7141-4DA7-8599-762E9C7834CA}" destId="{C8B76DDB-D0BB-48EF-96B6-BBFC349E4715}" srcOrd="7" destOrd="0" presId="urn:microsoft.com/office/officeart/2005/8/layout/vList2"/>
    <dgm:cxn modelId="{2C06CAA0-59ED-4DFB-BA48-D27F8AAA26A8}" type="presParOf" srcId="{D4114F44-7141-4DA7-8599-762E9C7834CA}" destId="{A7C6E053-2E8B-461D-90E0-16A043BB6221}" srcOrd="8"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6CAA3F-6E4B-45B9-9A20-DABBA2DABD3D}">
      <dsp:nvSpPr>
        <dsp:cNvPr id="0" name=""/>
        <dsp:cNvSpPr/>
      </dsp:nvSpPr>
      <dsp:spPr>
        <a:xfrm>
          <a:off x="563" y="1237924"/>
          <a:ext cx="1098244" cy="1098244"/>
        </a:xfrm>
        <a:prstGeom prst="ellipse">
          <a:avLst/>
        </a:prstGeom>
        <a:gradFill rotWithShape="0">
          <a:gsLst>
            <a:gs pos="0">
              <a:schemeClr val="accent2">
                <a:alpha val="50000"/>
                <a:hueOff val="0"/>
                <a:satOff val="0"/>
                <a:lumOff val="0"/>
                <a:alphaOff val="0"/>
                <a:satMod val="103000"/>
                <a:lumMod val="102000"/>
                <a:tint val="94000"/>
              </a:schemeClr>
            </a:gs>
            <a:gs pos="50000">
              <a:schemeClr val="accent2">
                <a:alpha val="50000"/>
                <a:hueOff val="0"/>
                <a:satOff val="0"/>
                <a:lumOff val="0"/>
                <a:alphaOff val="0"/>
                <a:satMod val="110000"/>
                <a:lumMod val="100000"/>
                <a:shade val="100000"/>
              </a:schemeClr>
            </a:gs>
            <a:gs pos="100000">
              <a:schemeClr val="accent2">
                <a:alpha val="5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60440" tIns="20320" rIns="60440" bIns="20320" numCol="1" spcCol="1270" anchor="ctr" anchorCtr="0">
          <a:noAutofit/>
        </a:bodyPr>
        <a:lstStyle/>
        <a:p>
          <a:pPr marL="0" lvl="0" indent="0" algn="ctr" defTabSz="711200">
            <a:lnSpc>
              <a:spcPct val="90000"/>
            </a:lnSpc>
            <a:spcBef>
              <a:spcPct val="0"/>
            </a:spcBef>
            <a:spcAft>
              <a:spcPct val="35000"/>
            </a:spcAft>
            <a:buNone/>
          </a:pPr>
          <a:r>
            <a:rPr lang="en-US" sz="1600" kern="1200" dirty="0">
              <a:latin typeface="Trade Gothic Next Cond"/>
            </a:rPr>
            <a:t>Excel</a:t>
          </a:r>
          <a:endParaRPr lang="en-US" sz="1600" kern="1200" dirty="0"/>
        </a:p>
      </dsp:txBody>
      <dsp:txXfrm>
        <a:off x="161397" y="1398758"/>
        <a:ext cx="776576" cy="776576"/>
      </dsp:txXfrm>
    </dsp:sp>
    <dsp:sp modelId="{4F15F2AF-EACD-4620-B3A4-519C99D37680}">
      <dsp:nvSpPr>
        <dsp:cNvPr id="0" name=""/>
        <dsp:cNvSpPr/>
      </dsp:nvSpPr>
      <dsp:spPr>
        <a:xfrm>
          <a:off x="879158" y="1237924"/>
          <a:ext cx="1098244" cy="1098244"/>
        </a:xfrm>
        <a:prstGeom prst="ellipse">
          <a:avLst/>
        </a:prstGeom>
        <a:gradFill rotWithShape="0">
          <a:gsLst>
            <a:gs pos="0">
              <a:schemeClr val="accent2">
                <a:alpha val="50000"/>
                <a:hueOff val="0"/>
                <a:satOff val="0"/>
                <a:lumOff val="0"/>
                <a:alphaOff val="0"/>
                <a:satMod val="103000"/>
                <a:lumMod val="102000"/>
                <a:tint val="94000"/>
              </a:schemeClr>
            </a:gs>
            <a:gs pos="50000">
              <a:schemeClr val="accent2">
                <a:alpha val="50000"/>
                <a:hueOff val="0"/>
                <a:satOff val="0"/>
                <a:lumOff val="0"/>
                <a:alphaOff val="0"/>
                <a:satMod val="110000"/>
                <a:lumMod val="100000"/>
                <a:shade val="100000"/>
              </a:schemeClr>
            </a:gs>
            <a:gs pos="100000">
              <a:schemeClr val="accent2">
                <a:alpha val="5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60440" tIns="20320" rIns="60440" bIns="20320" numCol="1" spcCol="1270" anchor="ctr" anchorCtr="0">
          <a:noAutofit/>
        </a:bodyPr>
        <a:lstStyle/>
        <a:p>
          <a:pPr marL="0" lvl="0" indent="0" algn="ctr" defTabSz="711200">
            <a:lnSpc>
              <a:spcPct val="90000"/>
            </a:lnSpc>
            <a:spcBef>
              <a:spcPct val="0"/>
            </a:spcBef>
            <a:spcAft>
              <a:spcPct val="35000"/>
            </a:spcAft>
            <a:buNone/>
          </a:pPr>
          <a:r>
            <a:rPr lang="en-US" sz="1600" kern="1200">
              <a:latin typeface="Trade Gothic Next Cond"/>
            </a:rPr>
            <a:t>SQL</a:t>
          </a:r>
          <a:endParaRPr lang="en-US" sz="1600" kern="1200"/>
        </a:p>
      </dsp:txBody>
      <dsp:txXfrm>
        <a:off x="1039992" y="1398758"/>
        <a:ext cx="776576" cy="776576"/>
      </dsp:txXfrm>
    </dsp:sp>
    <dsp:sp modelId="{1A467440-E5CD-4681-801A-2F2902A03175}">
      <dsp:nvSpPr>
        <dsp:cNvPr id="0" name=""/>
        <dsp:cNvSpPr/>
      </dsp:nvSpPr>
      <dsp:spPr>
        <a:xfrm>
          <a:off x="1757754" y="1237924"/>
          <a:ext cx="1098244" cy="1098244"/>
        </a:xfrm>
        <a:prstGeom prst="ellipse">
          <a:avLst/>
        </a:prstGeom>
        <a:gradFill rotWithShape="0">
          <a:gsLst>
            <a:gs pos="0">
              <a:schemeClr val="accent2">
                <a:alpha val="50000"/>
                <a:hueOff val="0"/>
                <a:satOff val="0"/>
                <a:lumOff val="0"/>
                <a:alphaOff val="0"/>
                <a:satMod val="103000"/>
                <a:lumMod val="102000"/>
                <a:tint val="94000"/>
              </a:schemeClr>
            </a:gs>
            <a:gs pos="50000">
              <a:schemeClr val="accent2">
                <a:alpha val="50000"/>
                <a:hueOff val="0"/>
                <a:satOff val="0"/>
                <a:lumOff val="0"/>
                <a:alphaOff val="0"/>
                <a:satMod val="110000"/>
                <a:lumMod val="100000"/>
                <a:shade val="100000"/>
              </a:schemeClr>
            </a:gs>
            <a:gs pos="100000">
              <a:schemeClr val="accent2">
                <a:alpha val="5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60440" tIns="20320" rIns="60440" bIns="20320" numCol="1" spcCol="1270" anchor="ctr" anchorCtr="0">
          <a:noAutofit/>
        </a:bodyPr>
        <a:lstStyle/>
        <a:p>
          <a:pPr marL="0" lvl="0" indent="0" algn="ctr" defTabSz="711200" rtl="0">
            <a:lnSpc>
              <a:spcPct val="90000"/>
            </a:lnSpc>
            <a:spcBef>
              <a:spcPct val="0"/>
            </a:spcBef>
            <a:spcAft>
              <a:spcPct val="35000"/>
            </a:spcAft>
            <a:buNone/>
          </a:pPr>
          <a:r>
            <a:rPr lang="en-US" sz="1600" kern="1200">
              <a:latin typeface="Trade Gothic Next Cond"/>
            </a:rPr>
            <a:t>Power BI</a:t>
          </a:r>
          <a:endParaRPr lang="en-US" sz="1600" kern="1200"/>
        </a:p>
      </dsp:txBody>
      <dsp:txXfrm>
        <a:off x="1918588" y="1398758"/>
        <a:ext cx="776576" cy="776576"/>
      </dsp:txXfrm>
    </dsp:sp>
    <dsp:sp modelId="{A20F8227-0D60-4921-B9D3-4125F55CAE44}">
      <dsp:nvSpPr>
        <dsp:cNvPr id="0" name=""/>
        <dsp:cNvSpPr/>
      </dsp:nvSpPr>
      <dsp:spPr>
        <a:xfrm>
          <a:off x="2636349" y="1237924"/>
          <a:ext cx="1098244" cy="1098244"/>
        </a:xfrm>
        <a:prstGeom prst="ellipse">
          <a:avLst/>
        </a:prstGeom>
        <a:gradFill rotWithShape="0">
          <a:gsLst>
            <a:gs pos="0">
              <a:schemeClr val="accent2">
                <a:alpha val="50000"/>
                <a:hueOff val="0"/>
                <a:satOff val="0"/>
                <a:lumOff val="0"/>
                <a:alphaOff val="0"/>
                <a:satMod val="103000"/>
                <a:lumMod val="102000"/>
                <a:tint val="94000"/>
              </a:schemeClr>
            </a:gs>
            <a:gs pos="50000">
              <a:schemeClr val="accent2">
                <a:alpha val="50000"/>
                <a:hueOff val="0"/>
                <a:satOff val="0"/>
                <a:lumOff val="0"/>
                <a:alphaOff val="0"/>
                <a:satMod val="110000"/>
                <a:lumMod val="100000"/>
                <a:shade val="100000"/>
              </a:schemeClr>
            </a:gs>
            <a:gs pos="100000">
              <a:schemeClr val="accent2">
                <a:alpha val="5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60440" tIns="20320" rIns="60440" bIns="20320" numCol="1" spcCol="1270" anchor="ctr" anchorCtr="0">
          <a:noAutofit/>
        </a:bodyPr>
        <a:lstStyle/>
        <a:p>
          <a:pPr marL="0" lvl="0" indent="0" algn="ctr" defTabSz="711200">
            <a:lnSpc>
              <a:spcPct val="90000"/>
            </a:lnSpc>
            <a:spcBef>
              <a:spcPct val="0"/>
            </a:spcBef>
            <a:spcAft>
              <a:spcPct val="35000"/>
            </a:spcAft>
            <a:buNone/>
          </a:pPr>
          <a:r>
            <a:rPr lang="en-US" sz="1600" kern="1200">
              <a:latin typeface="Trade Gothic Next Cond"/>
            </a:rPr>
            <a:t>DAX</a:t>
          </a:r>
          <a:endParaRPr lang="en-US" sz="1600" kern="1200"/>
        </a:p>
      </dsp:txBody>
      <dsp:txXfrm>
        <a:off x="2797183" y="1398758"/>
        <a:ext cx="776576" cy="776576"/>
      </dsp:txXfrm>
    </dsp:sp>
    <dsp:sp modelId="{8D964D21-882B-494D-970D-5BACF01B4A56}">
      <dsp:nvSpPr>
        <dsp:cNvPr id="0" name=""/>
        <dsp:cNvSpPr/>
      </dsp:nvSpPr>
      <dsp:spPr>
        <a:xfrm>
          <a:off x="3514945" y="1237924"/>
          <a:ext cx="1098244" cy="1098244"/>
        </a:xfrm>
        <a:prstGeom prst="ellipse">
          <a:avLst/>
        </a:prstGeom>
        <a:gradFill rotWithShape="0">
          <a:gsLst>
            <a:gs pos="0">
              <a:schemeClr val="accent2">
                <a:alpha val="50000"/>
                <a:hueOff val="0"/>
                <a:satOff val="0"/>
                <a:lumOff val="0"/>
                <a:alphaOff val="0"/>
                <a:satMod val="103000"/>
                <a:lumMod val="102000"/>
                <a:tint val="94000"/>
              </a:schemeClr>
            </a:gs>
            <a:gs pos="50000">
              <a:schemeClr val="accent2">
                <a:alpha val="50000"/>
                <a:hueOff val="0"/>
                <a:satOff val="0"/>
                <a:lumOff val="0"/>
                <a:alphaOff val="0"/>
                <a:satMod val="110000"/>
                <a:lumMod val="100000"/>
                <a:shade val="100000"/>
              </a:schemeClr>
            </a:gs>
            <a:gs pos="100000">
              <a:schemeClr val="accent2">
                <a:alpha val="5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tx1"/>
        </a:fontRef>
      </dsp:style>
      <dsp:txBody>
        <a:bodyPr spcFirstLastPara="0" vert="horz" wrap="square" lIns="60440" tIns="20320" rIns="60440" bIns="20320" numCol="1" spcCol="1270" anchor="ctr" anchorCtr="0">
          <a:noAutofit/>
        </a:bodyPr>
        <a:lstStyle/>
        <a:p>
          <a:pPr marL="0" lvl="0" indent="0" algn="ctr" defTabSz="711200" rtl="0">
            <a:lnSpc>
              <a:spcPct val="90000"/>
            </a:lnSpc>
            <a:spcBef>
              <a:spcPct val="0"/>
            </a:spcBef>
            <a:spcAft>
              <a:spcPct val="35000"/>
            </a:spcAft>
            <a:buNone/>
          </a:pPr>
          <a:r>
            <a:rPr lang="en-US" sz="1600" kern="1200" dirty="0">
              <a:latin typeface="Trade Gothic Next Cond"/>
            </a:rPr>
            <a:t>Business Insights</a:t>
          </a:r>
        </a:p>
      </dsp:txBody>
      <dsp:txXfrm>
        <a:off x="3675779" y="1398758"/>
        <a:ext cx="776576" cy="7765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3ED956-6AD1-4AC4-9B25-D8C8A4DDDA3B}">
      <dsp:nvSpPr>
        <dsp:cNvPr id="0" name=""/>
        <dsp:cNvSpPr/>
      </dsp:nvSpPr>
      <dsp:spPr>
        <a:xfrm>
          <a:off x="5096" y="1288135"/>
          <a:ext cx="1580024" cy="108132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Cleaned and validated raw data using Excel</a:t>
          </a:r>
        </a:p>
      </dsp:txBody>
      <dsp:txXfrm>
        <a:off x="36767" y="1319806"/>
        <a:ext cx="1516682" cy="1017987"/>
      </dsp:txXfrm>
    </dsp:sp>
    <dsp:sp modelId="{49D3CB3A-0AA7-4C8E-9FAA-10CC95EA0C64}">
      <dsp:nvSpPr>
        <dsp:cNvPr id="0" name=""/>
        <dsp:cNvSpPr/>
      </dsp:nvSpPr>
      <dsp:spPr>
        <a:xfrm>
          <a:off x="1743123" y="1632876"/>
          <a:ext cx="334965" cy="391846"/>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743123" y="1711245"/>
        <a:ext cx="234476" cy="235108"/>
      </dsp:txXfrm>
    </dsp:sp>
    <dsp:sp modelId="{09C15268-9715-4E5C-86D3-328836ED5F52}">
      <dsp:nvSpPr>
        <dsp:cNvPr id="0" name=""/>
        <dsp:cNvSpPr/>
      </dsp:nvSpPr>
      <dsp:spPr>
        <a:xfrm>
          <a:off x="2217131" y="1288135"/>
          <a:ext cx="1580024" cy="108132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a:t>Checked for missing values </a:t>
          </a:r>
          <a:r>
            <a:rPr lang="en-US" sz="1600" kern="1200">
              <a:latin typeface="Trade Gothic Next Cond"/>
            </a:rPr>
            <a:t>   </a:t>
          </a:r>
          <a:r>
            <a:rPr lang="en-US" sz="1600" kern="1200"/>
            <a:t>and inconsistencies</a:t>
          </a:r>
        </a:p>
      </dsp:txBody>
      <dsp:txXfrm>
        <a:off x="2248802" y="1319806"/>
        <a:ext cx="1516682" cy="1017987"/>
      </dsp:txXfrm>
    </dsp:sp>
    <dsp:sp modelId="{364693ED-2E07-46EB-AB27-22CD849DF079}">
      <dsp:nvSpPr>
        <dsp:cNvPr id="0" name=""/>
        <dsp:cNvSpPr/>
      </dsp:nvSpPr>
      <dsp:spPr>
        <a:xfrm>
          <a:off x="3955157" y="1632876"/>
          <a:ext cx="334965" cy="391846"/>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955157" y="1711245"/>
        <a:ext cx="234476" cy="235108"/>
      </dsp:txXfrm>
    </dsp:sp>
    <dsp:sp modelId="{EF219AC7-FDE7-42FF-9CE1-7DEDC68CDC6B}">
      <dsp:nvSpPr>
        <dsp:cNvPr id="0" name=""/>
        <dsp:cNvSpPr/>
      </dsp:nvSpPr>
      <dsp:spPr>
        <a:xfrm>
          <a:off x="4429165" y="1288135"/>
          <a:ext cx="1580024" cy="108132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a:t>Standardized column formats and data types</a:t>
          </a:r>
        </a:p>
      </dsp:txBody>
      <dsp:txXfrm>
        <a:off x="4460836" y="1319806"/>
        <a:ext cx="1516682" cy="1017987"/>
      </dsp:txXfrm>
    </dsp:sp>
    <dsp:sp modelId="{1E6EDBF1-7FAF-46E1-A9E5-E48910DFB7A1}">
      <dsp:nvSpPr>
        <dsp:cNvPr id="0" name=""/>
        <dsp:cNvSpPr/>
      </dsp:nvSpPr>
      <dsp:spPr>
        <a:xfrm>
          <a:off x="6167192" y="1632876"/>
          <a:ext cx="334965" cy="391846"/>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167192" y="1711245"/>
        <a:ext cx="234476" cy="235108"/>
      </dsp:txXfrm>
    </dsp:sp>
    <dsp:sp modelId="{9E8FE20A-D879-45E2-B033-38E0DFB40B27}">
      <dsp:nvSpPr>
        <dsp:cNvPr id="0" name=""/>
        <dsp:cNvSpPr/>
      </dsp:nvSpPr>
      <dsp:spPr>
        <a:xfrm>
          <a:off x="6641199" y="1288135"/>
          <a:ext cx="1580024" cy="108132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Removed duplicate and unnecessary records</a:t>
          </a:r>
        </a:p>
      </dsp:txBody>
      <dsp:txXfrm>
        <a:off x="6672870" y="1319806"/>
        <a:ext cx="1516682" cy="1017987"/>
      </dsp:txXfrm>
    </dsp:sp>
    <dsp:sp modelId="{1A60335F-1C98-4343-BF3F-C40E2CA19972}">
      <dsp:nvSpPr>
        <dsp:cNvPr id="0" name=""/>
        <dsp:cNvSpPr/>
      </dsp:nvSpPr>
      <dsp:spPr>
        <a:xfrm>
          <a:off x="8379226" y="1632876"/>
          <a:ext cx="334965" cy="391846"/>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379226" y="1711245"/>
        <a:ext cx="234476" cy="235108"/>
      </dsp:txXfrm>
    </dsp:sp>
    <dsp:sp modelId="{A873B829-EC37-4A8F-96FF-E4EE504A7863}">
      <dsp:nvSpPr>
        <dsp:cNvPr id="0" name=""/>
        <dsp:cNvSpPr/>
      </dsp:nvSpPr>
      <dsp:spPr>
        <a:xfrm>
          <a:off x="8853233" y="1288135"/>
          <a:ext cx="1580024" cy="108132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t>Verified data accuracy before SQL loading</a:t>
          </a:r>
          <a:endParaRPr lang="en-US" sz="1600" kern="1200" dirty="0">
            <a:latin typeface="Trade Gothic Next Cond"/>
          </a:endParaRPr>
        </a:p>
      </dsp:txBody>
      <dsp:txXfrm>
        <a:off x="8884904" y="1319806"/>
        <a:ext cx="1516682" cy="10179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24F7DA-FECC-4716-826A-97C3A4860C11}">
      <dsp:nvSpPr>
        <dsp:cNvPr id="0" name=""/>
        <dsp:cNvSpPr/>
      </dsp:nvSpPr>
      <dsp:spPr>
        <a:xfrm>
          <a:off x="0" y="5806"/>
          <a:ext cx="7953745" cy="3597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kern="1200"/>
            <a:t>India generated the highest rental revenue</a:t>
          </a:r>
        </a:p>
      </dsp:txBody>
      <dsp:txXfrm>
        <a:off x="17563" y="23369"/>
        <a:ext cx="7918619" cy="324648"/>
      </dsp:txXfrm>
    </dsp:sp>
    <dsp:sp modelId="{932D29A1-ACE8-4BA2-90D6-5D0B5D40D7D9}">
      <dsp:nvSpPr>
        <dsp:cNvPr id="0" name=""/>
        <dsp:cNvSpPr/>
      </dsp:nvSpPr>
      <dsp:spPr>
        <a:xfrm>
          <a:off x="0" y="408781"/>
          <a:ext cx="7953745" cy="3597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kern="1200"/>
            <a:t>Online payments contributed the highest sales share</a:t>
          </a:r>
        </a:p>
      </dsp:txBody>
      <dsp:txXfrm>
        <a:off x="17563" y="426344"/>
        <a:ext cx="7918619" cy="324648"/>
      </dsp:txXfrm>
    </dsp:sp>
    <dsp:sp modelId="{95ECADED-DD75-4E8E-838D-C995351D6AD3}">
      <dsp:nvSpPr>
        <dsp:cNvPr id="0" name=""/>
        <dsp:cNvSpPr/>
      </dsp:nvSpPr>
      <dsp:spPr>
        <a:xfrm>
          <a:off x="0" y="811756"/>
          <a:ext cx="7953745" cy="3597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kern="1200"/>
            <a:t>Active customers drove most of the revenue</a:t>
          </a:r>
        </a:p>
      </dsp:txBody>
      <dsp:txXfrm>
        <a:off x="17563" y="829319"/>
        <a:ext cx="7918619" cy="324648"/>
      </dsp:txXfrm>
    </dsp:sp>
    <dsp:sp modelId="{A624D78F-C93A-4970-854C-24D76A0C5488}">
      <dsp:nvSpPr>
        <dsp:cNvPr id="0" name=""/>
        <dsp:cNvSpPr/>
      </dsp:nvSpPr>
      <dsp:spPr>
        <a:xfrm>
          <a:off x="0" y="1214731"/>
          <a:ext cx="7953745" cy="3597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kern="1200" dirty="0"/>
            <a:t>Action was the top-performing film category</a:t>
          </a:r>
          <a:endParaRPr lang="en-US" sz="1500" kern="1200" dirty="0">
            <a:latin typeface="Trade Gothic Next Cond"/>
          </a:endParaRPr>
        </a:p>
      </dsp:txBody>
      <dsp:txXfrm>
        <a:off x="17563" y="1232294"/>
        <a:ext cx="7918619" cy="324648"/>
      </dsp:txXfrm>
    </dsp:sp>
    <dsp:sp modelId="{A7C6E053-2E8B-461D-90E0-16A043BB6221}">
      <dsp:nvSpPr>
        <dsp:cNvPr id="0" name=""/>
        <dsp:cNvSpPr/>
      </dsp:nvSpPr>
      <dsp:spPr>
        <a:xfrm>
          <a:off x="0" y="1617706"/>
          <a:ext cx="7953745" cy="3597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Revenue increased significantly during peak months</a:t>
          </a:r>
          <a:endParaRPr lang="en-US" sz="1500" kern="1200" dirty="0">
            <a:latin typeface="Trade Gothic Next Cond"/>
          </a:endParaRPr>
        </a:p>
      </dsp:txBody>
      <dsp:txXfrm>
        <a:off x="17563" y="1635269"/>
        <a:ext cx="7918619" cy="3246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24F7DA-FECC-4716-826A-97C3A4860C11}">
      <dsp:nvSpPr>
        <dsp:cNvPr id="0" name=""/>
        <dsp:cNvSpPr/>
      </dsp:nvSpPr>
      <dsp:spPr>
        <a:xfrm>
          <a:off x="0" y="5806"/>
          <a:ext cx="7953745" cy="3597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kern="1200" dirty="0">
              <a:latin typeface="Trade Gothic Next Light"/>
              <a:ea typeface="+mn-ea"/>
              <a:cs typeface="+mn-cs"/>
            </a:rPr>
            <a:t>Geographic regions showed uneven revenue distribution</a:t>
          </a:r>
        </a:p>
      </dsp:txBody>
      <dsp:txXfrm>
        <a:off x="17563" y="23369"/>
        <a:ext cx="7918619" cy="324648"/>
      </dsp:txXfrm>
    </dsp:sp>
    <dsp:sp modelId="{FAF08D56-FF6F-4A13-A2EB-D6B5405106D8}">
      <dsp:nvSpPr>
        <dsp:cNvPr id="0" name=""/>
        <dsp:cNvSpPr/>
      </dsp:nvSpPr>
      <dsp:spPr>
        <a:xfrm>
          <a:off x="0" y="408781"/>
          <a:ext cx="7953745" cy="3597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kern="1200" dirty="0">
              <a:latin typeface="Trade Gothic Next Light"/>
              <a:ea typeface="+mn-ea"/>
              <a:cs typeface="+mn-cs"/>
            </a:rPr>
            <a:t>Customer behavior strongly impacted revenue trends</a:t>
          </a:r>
        </a:p>
      </dsp:txBody>
      <dsp:txXfrm>
        <a:off x="17563" y="426344"/>
        <a:ext cx="7918619" cy="324648"/>
      </dsp:txXfrm>
    </dsp:sp>
    <dsp:sp modelId="{932D29A1-ACE8-4BA2-90D6-5D0B5D40D7D9}">
      <dsp:nvSpPr>
        <dsp:cNvPr id="0" name=""/>
        <dsp:cNvSpPr/>
      </dsp:nvSpPr>
      <dsp:spPr>
        <a:xfrm>
          <a:off x="0" y="811756"/>
          <a:ext cx="7953745" cy="3597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kern="1200" dirty="0">
              <a:latin typeface="Trade Gothic Next Light"/>
              <a:ea typeface="+mn-ea"/>
              <a:cs typeface="+mn-cs"/>
            </a:rPr>
            <a:t>Payment preferences influenced sales performance</a:t>
          </a:r>
        </a:p>
      </dsp:txBody>
      <dsp:txXfrm>
        <a:off x="17563" y="829319"/>
        <a:ext cx="7918619" cy="324648"/>
      </dsp:txXfrm>
    </dsp:sp>
    <dsp:sp modelId="{C0CB797A-5FB4-4FB6-901C-CDE68C0827EA}">
      <dsp:nvSpPr>
        <dsp:cNvPr id="0" name=""/>
        <dsp:cNvSpPr/>
      </dsp:nvSpPr>
      <dsp:spPr>
        <a:xfrm>
          <a:off x="0" y="1214731"/>
          <a:ext cx="7953745" cy="3597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kern="1200" dirty="0">
              <a:latin typeface="Trade Gothic Next Light"/>
              <a:ea typeface="+mn-ea"/>
              <a:cs typeface="+mn-cs"/>
            </a:rPr>
            <a:t>Inventory diversity supported rental demand</a:t>
          </a:r>
        </a:p>
      </dsp:txBody>
      <dsp:txXfrm>
        <a:off x="17563" y="1232294"/>
        <a:ext cx="7918619" cy="324648"/>
      </dsp:txXfrm>
    </dsp:sp>
    <dsp:sp modelId="{A7C6E053-2E8B-461D-90E0-16A043BB6221}">
      <dsp:nvSpPr>
        <dsp:cNvPr id="0" name=""/>
        <dsp:cNvSpPr/>
      </dsp:nvSpPr>
      <dsp:spPr>
        <a:xfrm>
          <a:off x="0" y="1617706"/>
          <a:ext cx="7953745" cy="3597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US" sz="1500" kern="1200" dirty="0">
              <a:latin typeface="Trade Gothic Next Light"/>
              <a:ea typeface="+mn-ea"/>
              <a:cs typeface="+mn-cs"/>
            </a:rPr>
            <a:t>Interactive dashboards improved business analysis</a:t>
          </a:r>
        </a:p>
      </dsp:txBody>
      <dsp:txXfrm>
        <a:off x="17563" y="1635269"/>
        <a:ext cx="7918619" cy="324648"/>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429612" y="1013984"/>
            <a:ext cx="7714388" cy="3260635"/>
          </a:xfrm>
        </p:spPr>
        <p:txBody>
          <a:bodyPr anchor="b"/>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429612" y="4848464"/>
            <a:ext cx="7714388" cy="1085849"/>
          </a:xfrm>
        </p:spPr>
        <p:txBody>
          <a:bodyPr>
            <a:normAutofit/>
          </a:bodyPr>
          <a:lstStyle>
            <a:lvl1pPr marL="0" indent="0" algn="l">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C4270120-CDFC-48DE-A6EA-6DEEDD0E436A}" type="datetimeFigureOut">
              <a:rPr lang="en-US" dirty="0"/>
              <a:t>5/16/2026</a:t>
            </a:fld>
            <a:endParaRPr lang="en-US" dirty="0"/>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543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429566" y="1045445"/>
            <a:ext cx="9238434" cy="857559"/>
          </a:xfrm>
        </p:spPr>
        <p:txBody>
          <a:bodyPr anchor="b"/>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429566" y="2286000"/>
            <a:ext cx="9238434"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A3C9FAAF-C467-4C93-8ECD-39AF5A14D498}" type="datetimeFigureOut">
              <a:rPr lang="en-US" dirty="0"/>
              <a:t>5/16/2026</a:t>
            </a:fld>
            <a:endParaRPr lang="en-US" dirty="0"/>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4130233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421745" y="1287554"/>
            <a:ext cx="8284963" cy="3113064"/>
          </a:xfrm>
        </p:spPr>
        <p:txBody>
          <a:bodyPr anchor="t"/>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421744" y="4619707"/>
            <a:ext cx="7722256" cy="1476293"/>
          </a:xfrm>
        </p:spPr>
        <p:txBody>
          <a:bodyPr anchor="b">
            <a:normAutofit/>
          </a:bodyPr>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E37E480-B2BA-4553-A144-61E7F75833ED}" type="datetimeFigureOut">
              <a:rPr lang="en-US" dirty="0"/>
              <a:t>5/16/2026</a:t>
            </a:fld>
            <a:endParaRPr lang="en-US" dirty="0"/>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622531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429566" y="1013411"/>
            <a:ext cx="9238434" cy="889592"/>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429566"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6172200"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90E682A-6B53-4B08-AE4D-4C5E659103CC}" type="datetimeFigureOut">
              <a:rPr lang="en-US" dirty="0"/>
              <a:t>5/16/2026</a:t>
            </a:fld>
            <a:endParaRPr lang="en-US" dirty="0"/>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923010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429566" y="1079150"/>
            <a:ext cx="9238434" cy="823912"/>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429567" y="2013217"/>
            <a:ext cx="4495799" cy="704232"/>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429567"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6172200" y="2013215"/>
            <a:ext cx="4495800" cy="704233"/>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6172200"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7C69F0F6-BEBB-4894-ABB2-75C5CBE0DDB9}" type="datetimeFigureOut">
              <a:rPr lang="en-US" dirty="0"/>
              <a:t>5/16/2026</a:t>
            </a:fld>
            <a:endParaRPr lang="en-US" dirty="0"/>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6270727"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1171838" y="4592406"/>
            <a:ext cx="808262"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524000"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134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8B3E9E5F-17D9-4A30-9DA3-64E46A6DF111}" type="datetimeFigureOut">
              <a:rPr lang="en-US" dirty="0"/>
              <a:t>5/16/2026</a:t>
            </a:fld>
            <a:endParaRPr lang="en-US" dirty="0"/>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861642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033AC5F0-3BC3-4718-BCCA-24B5655EC864}" type="datetimeFigureOut">
              <a:rPr lang="en-US" dirty="0"/>
              <a:t>5/16/2026</a:t>
            </a:fld>
            <a:endParaRPr lang="en-US" dirty="0"/>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4231204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443740" y="1558944"/>
            <a:ext cx="3279689" cy="1864196"/>
          </a:xfrm>
        </p:spPr>
        <p:txBody>
          <a:bodyPr anchor="b"/>
          <a:lstStyle>
            <a:lvl1pPr algn="r">
              <a:defRPr sz="2800">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5334000" y="762000"/>
            <a:ext cx="5333999" cy="5334000"/>
          </a:xfrm>
        </p:spPr>
        <p:txBody>
          <a:bodyPr anchor="ct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443741" y="3649682"/>
            <a:ext cx="3233096" cy="1933605"/>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9EB8BD81-465B-40F2-9A54-9DF3B12AF598}" type="datetimeFigureOut">
              <a:rPr lang="en-US" dirty="0"/>
              <a:t>5/16/2026</a:t>
            </a:fld>
            <a:endParaRPr lang="en-US" dirty="0"/>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067171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433543" y="1383126"/>
            <a:ext cx="3289886" cy="2045874"/>
          </a:xfrm>
        </p:spPr>
        <p:txBody>
          <a:bodyPr anchor="b"/>
          <a:lstStyle>
            <a:lvl1pPr algn="r">
              <a:defRPr sz="2800">
                <a:solidFill>
                  <a:schemeClr val="tx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noChangeAspect="1"/>
          </p:cNvSpPr>
          <p:nvPr>
            <p:ph type="pic" idx="1"/>
          </p:nvPr>
        </p:nvSpPr>
        <p:spPr>
          <a:xfrm>
            <a:off x="5334001" y="762000"/>
            <a:ext cx="5333999" cy="5334000"/>
          </a:xfrm>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433544" y="3649682"/>
            <a:ext cx="3243292" cy="1684317"/>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F04B3CEF-64EF-4C43-9530-8E9CBFD2CAD1}" type="datetimeFigureOut">
              <a:rPr lang="en-US" dirty="0"/>
              <a:t>5/16/2026</a:t>
            </a:fld>
            <a:endParaRPr lang="en-US" dirty="0"/>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4256972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429566" y="2229957"/>
            <a:ext cx="9238434"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2A1F5BA7-0A17-4D30-9B66-E29324151C73}" type="datetimeFigureOut">
              <a:rPr lang="en-US" dirty="0"/>
              <a:t>5/16/2026</a:t>
            </a:fld>
            <a:endParaRPr lang="en-US" dirty="0"/>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2709693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9144000" y="1467699"/>
            <a:ext cx="1758461" cy="4628301"/>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1182312" y="1467699"/>
            <a:ext cx="7839379"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76BEBB1B-D40A-4DB9-B3DE-BAAE675B83CD}" type="datetimeFigureOut">
              <a:rPr lang="en-US" dirty="0"/>
              <a:t>5/16/2026</a:t>
            </a:fld>
            <a:endParaRPr lang="en-US" dirty="0"/>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726084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429566" y="1041621"/>
            <a:ext cx="9238434" cy="861383"/>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429566" y="2285999"/>
            <a:ext cx="9238434" cy="3810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10471087" y="4891318"/>
            <a:ext cx="2673295"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B70A3DFD-A535-46B2-84C1-61DC8B16A904}" type="datetimeFigureOut">
              <a:rPr lang="en-US" dirty="0"/>
              <a:t>5/16/2026</a:t>
            </a:fld>
            <a:endParaRPr lang="en-US" dirty="0"/>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10473021" y="1609893"/>
            <a:ext cx="2669427" cy="365125"/>
          </a:xfrm>
          <a:prstGeom prst="rect">
            <a:avLst/>
          </a:prstGeom>
        </p:spPr>
        <p:txBody>
          <a:bodyPr vert="horz" lIns="91440" tIns="45720" rIns="91440" bIns="45720" rtlCol="0" anchor="ctr"/>
          <a:lstStyle>
            <a:lvl1pPr algn="r">
              <a:defRPr sz="700" b="1" cap="all" spc="30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11492908" y="3219853"/>
            <a:ext cx="629653" cy="429830"/>
          </a:xfrm>
          <a:prstGeom prst="rect">
            <a:avLst/>
          </a:prstGeom>
        </p:spPr>
        <p:txBody>
          <a:bodyPr vert="horz" lIns="91440" tIns="45720" rIns="91440" bIns="45720" rtlCol="0" anchor="ctr"/>
          <a:lstStyle>
            <a:lvl1pPr algn="ctr">
              <a:defRPr sz="1600" b="1">
                <a:solidFill>
                  <a:schemeClr val="tx1">
                    <a:tint val="75000"/>
                  </a:schemeClr>
                </a:solidFill>
                <a:latin typeface="+mj-lt"/>
              </a:defRPr>
            </a:lvl1pPr>
          </a:lstStyle>
          <a:p>
            <a:fld id="{196A61CA-0502-4EE4-9724-96EA822543E5}" type="slidenum">
              <a:rPr lang="en-US" dirty="0"/>
              <a:t>‹#›</a:t>
            </a:fld>
            <a:endParaRPr lang="en-US" dirty="0"/>
          </a:p>
        </p:txBody>
      </p:sp>
    </p:spTree>
    <p:extLst>
      <p:ext uri="{BB962C8B-B14F-4D97-AF65-F5344CB8AC3E}">
        <p14:creationId xmlns:p14="http://schemas.microsoft.com/office/powerpoint/2010/main" val="887129592"/>
      </p:ext>
    </p:extLst>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userDrawn="1">
          <p15:clr>
            <a:srgbClr val="F26B43"/>
          </p15:clr>
        </p15:guide>
        <p15:guide id="2" pos="3840" userDrawn="1">
          <p15:clr>
            <a:srgbClr val="F26B43"/>
          </p15:clr>
        </p15:guide>
        <p15:guide id="3" pos="7200" userDrawn="1">
          <p15:clr>
            <a:srgbClr val="F26B43"/>
          </p15:clr>
        </p15:guide>
        <p15:guide id="4" pos="6720" userDrawn="1">
          <p15:clr>
            <a:srgbClr val="F26B43"/>
          </p15:clr>
        </p15:guide>
        <p15:guide id="16" pos="480" userDrawn="1">
          <p15:clr>
            <a:srgbClr val="F26B43"/>
          </p15:clr>
        </p15:guide>
        <p15:guide id="23" orient="horz"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t="-39000" b="-39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87566" y="3647061"/>
            <a:ext cx="3571301" cy="1083938"/>
          </a:xfrm>
        </p:spPr>
        <p:txBody>
          <a:bodyPr/>
          <a:lstStyle/>
          <a:p>
            <a:r>
              <a:rPr lang="en-US" sz="4000"/>
              <a:t>Sakila</a:t>
            </a:r>
            <a:br>
              <a:rPr lang="en-US" sz="4000" dirty="0"/>
            </a:br>
            <a:r>
              <a:rPr lang="en-US" sz="4000"/>
              <a:t>movie </a:t>
            </a:r>
            <a:br>
              <a:rPr lang="en-US" sz="4000" dirty="0"/>
            </a:br>
            <a:r>
              <a:rPr lang="en-US" sz="4000"/>
              <a:t>rental </a:t>
            </a:r>
            <a:br>
              <a:rPr lang="en-US" sz="4000" dirty="0"/>
            </a:br>
            <a:r>
              <a:rPr lang="en-US" sz="4000"/>
              <a:t>analysis</a:t>
            </a:r>
            <a:br>
              <a:rPr lang="en-US" sz="4000" dirty="0"/>
            </a:br>
            <a:endParaRPr lang="en-US" sz="4000"/>
          </a:p>
        </p:txBody>
      </p:sp>
      <p:sp>
        <p:nvSpPr>
          <p:cNvPr id="3" name="Subtitle 2"/>
          <p:cNvSpPr>
            <a:spLocks noGrp="1"/>
          </p:cNvSpPr>
          <p:nvPr>
            <p:ph type="subTitle" idx="1"/>
          </p:nvPr>
        </p:nvSpPr>
        <p:spPr>
          <a:xfrm>
            <a:off x="584985" y="561067"/>
            <a:ext cx="4895907" cy="553368"/>
          </a:xfrm>
        </p:spPr>
        <p:txBody>
          <a:bodyPr vert="horz" lIns="91440" tIns="45720" rIns="91440" bIns="45720" rtlCol="0" anchor="t">
            <a:normAutofit/>
          </a:bodyPr>
          <a:lstStyle/>
          <a:p>
            <a:r>
              <a:rPr lang="en-US" sz="1600">
                <a:ea typeface="+mn-lt"/>
                <a:cs typeface="+mn-lt"/>
              </a:rPr>
              <a:t>Power BI Reporting &amp; Business Analysis Project</a:t>
            </a:r>
            <a:endParaRPr lang="en-US" sz="1600"/>
          </a:p>
        </p:txBody>
      </p:sp>
      <p:sp>
        <p:nvSpPr>
          <p:cNvPr id="4" name="TextBox 3">
            <a:extLst>
              <a:ext uri="{FF2B5EF4-FFF2-40B4-BE49-F238E27FC236}">
                <a16:creationId xmlns:a16="http://schemas.microsoft.com/office/drawing/2014/main" id="{BBD67BE7-7401-AE8B-AE7C-CBC80F081BB5}"/>
              </a:ext>
            </a:extLst>
          </p:cNvPr>
          <p:cNvSpPr txBox="1"/>
          <p:nvPr/>
        </p:nvSpPr>
        <p:spPr>
          <a:xfrm>
            <a:off x="9368362" y="6025194"/>
            <a:ext cx="26827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 </a:t>
            </a:r>
            <a:r>
              <a:rPr lang="en-US" b="1" dirty="0">
                <a:ea typeface="+mn-lt"/>
                <a:cs typeface="+mn-lt"/>
              </a:rPr>
              <a:t>By: Pravallika </a:t>
            </a:r>
            <a:r>
              <a:rPr lang="en-US" b="1" dirty="0" err="1">
                <a:ea typeface="+mn-lt"/>
                <a:cs typeface="+mn-lt"/>
              </a:rPr>
              <a:t>Manepalli</a:t>
            </a:r>
            <a:endParaRPr lang="en-US" b="1"/>
          </a:p>
        </p:txBody>
      </p:sp>
      <p:sp>
        <p:nvSpPr>
          <p:cNvPr id="5" name="TextBox 4">
            <a:extLst>
              <a:ext uri="{FF2B5EF4-FFF2-40B4-BE49-F238E27FC236}">
                <a16:creationId xmlns:a16="http://schemas.microsoft.com/office/drawing/2014/main" id="{C82DB4C8-140E-8CD4-CF25-ED0AF7143E74}"/>
              </a:ext>
            </a:extLst>
          </p:cNvPr>
          <p:cNvSpPr txBox="1"/>
          <p:nvPr/>
        </p:nvSpPr>
        <p:spPr>
          <a:xfrm>
            <a:off x="670947" y="4657644"/>
            <a:ext cx="2521679"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Excel | </a:t>
            </a:r>
            <a:r>
              <a:rPr lang="en-US" sz="1200" b="1" dirty="0"/>
              <a:t>SQL |Power BI | DAX</a:t>
            </a:r>
            <a:endParaRPr lang="en-US" sz="1200" b="1">
              <a:solidFill>
                <a:srgbClr val="000000"/>
              </a:solidFill>
            </a:endParaRPr>
          </a:p>
          <a:p>
            <a:pPr algn="l"/>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F798C-2BF6-3C36-1734-F7629B2747E1}"/>
              </a:ext>
            </a:extLst>
          </p:cNvPr>
          <p:cNvSpPr>
            <a:spLocks noGrp="1"/>
          </p:cNvSpPr>
          <p:nvPr>
            <p:ph type="title"/>
          </p:nvPr>
        </p:nvSpPr>
        <p:spPr>
          <a:xfrm>
            <a:off x="970530" y="1173976"/>
            <a:ext cx="9238434" cy="857559"/>
          </a:xfrm>
        </p:spPr>
        <p:txBody>
          <a:bodyPr/>
          <a:lstStyle/>
          <a:p>
            <a:endParaRPr lang="en-US" dirty="0"/>
          </a:p>
          <a:p>
            <a:r>
              <a:rPr lang="en-US">
                <a:solidFill>
                  <a:srgbClr val="364A57"/>
                </a:solidFill>
              </a:rPr>
              <a:t>TABLE OF CONTENTS</a:t>
            </a:r>
          </a:p>
          <a:p>
            <a:endParaRPr lang="en-US" dirty="0"/>
          </a:p>
        </p:txBody>
      </p:sp>
      <p:sp>
        <p:nvSpPr>
          <p:cNvPr id="4" name="Date Placeholder 3">
            <a:extLst>
              <a:ext uri="{FF2B5EF4-FFF2-40B4-BE49-F238E27FC236}">
                <a16:creationId xmlns:a16="http://schemas.microsoft.com/office/drawing/2014/main" id="{B5F9B5D4-ECA5-AAE9-71E3-2709D65C332E}"/>
              </a:ext>
            </a:extLst>
          </p:cNvPr>
          <p:cNvSpPr>
            <a:spLocks noGrp="1"/>
          </p:cNvSpPr>
          <p:nvPr>
            <p:ph type="dt" sz="half" idx="10"/>
          </p:nvPr>
        </p:nvSpPr>
        <p:spPr/>
        <p:txBody>
          <a:bodyPr/>
          <a:lstStyle/>
          <a:p>
            <a:fld id="{090D7FD9-9C17-4450-AACD-2F8073370DC0}" type="datetime1">
              <a:t>5/16/2026</a:t>
            </a:fld>
            <a:endParaRPr lang="en-US" dirty="0"/>
          </a:p>
        </p:txBody>
      </p:sp>
      <p:sp>
        <p:nvSpPr>
          <p:cNvPr id="5" name="Footer Placeholder 4">
            <a:extLst>
              <a:ext uri="{FF2B5EF4-FFF2-40B4-BE49-F238E27FC236}">
                <a16:creationId xmlns:a16="http://schemas.microsoft.com/office/drawing/2014/main" id="{F434E138-0AEF-8545-FE54-2F7F2106661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A423477-90DF-643D-7EB1-2FBAC8600038}"/>
              </a:ext>
            </a:extLst>
          </p:cNvPr>
          <p:cNvSpPr>
            <a:spLocks noGrp="1"/>
          </p:cNvSpPr>
          <p:nvPr>
            <p:ph type="sldNum" sz="quarter" idx="12"/>
          </p:nvPr>
        </p:nvSpPr>
        <p:spPr/>
        <p:txBody>
          <a:bodyPr/>
          <a:lstStyle/>
          <a:p>
            <a:fld id="{196A61CA-0502-4EE4-9724-96EA822543E5}" type="slidenum">
              <a:rPr lang="en-US" dirty="0"/>
              <a:t>2</a:t>
            </a:fld>
            <a:endParaRPr lang="en-US" dirty="0"/>
          </a:p>
        </p:txBody>
      </p:sp>
      <p:sp>
        <p:nvSpPr>
          <p:cNvPr id="9" name="Content Placeholder 8">
            <a:extLst>
              <a:ext uri="{FF2B5EF4-FFF2-40B4-BE49-F238E27FC236}">
                <a16:creationId xmlns:a16="http://schemas.microsoft.com/office/drawing/2014/main" id="{72AC4220-1E07-2D6F-19EE-6A739651CEED}"/>
              </a:ext>
            </a:extLst>
          </p:cNvPr>
          <p:cNvSpPr>
            <a:spLocks noGrp="1"/>
          </p:cNvSpPr>
          <p:nvPr>
            <p:ph idx="1"/>
          </p:nvPr>
        </p:nvSpPr>
        <p:spPr>
          <a:xfrm>
            <a:off x="970530" y="1716795"/>
            <a:ext cx="9238434" cy="4314939"/>
          </a:xfrm>
        </p:spPr>
        <p:txBody>
          <a:bodyPr vert="horz" lIns="91440" tIns="45720" rIns="91440" bIns="45720" rtlCol="0" anchor="t">
            <a:normAutofit fontScale="92500" lnSpcReduction="20000"/>
          </a:bodyPr>
          <a:lstStyle/>
          <a:p>
            <a:r>
              <a:rPr lang="en-US" b="1">
                <a:solidFill>
                  <a:srgbClr val="364A57"/>
                </a:solidFill>
                <a:latin typeface="Aptos"/>
              </a:rPr>
              <a:t>Project Overview</a:t>
            </a:r>
            <a:endParaRPr lang="en-US">
              <a:latin typeface="Aptos"/>
            </a:endParaRPr>
          </a:p>
          <a:p>
            <a:r>
              <a:rPr lang="en-US" b="1">
                <a:solidFill>
                  <a:srgbClr val="364A57"/>
                </a:solidFill>
                <a:latin typeface="Aptos"/>
              </a:rPr>
              <a:t>Data Cleaning &amp; Preparation</a:t>
            </a:r>
          </a:p>
          <a:p>
            <a:r>
              <a:rPr lang="en-US" b="1">
                <a:solidFill>
                  <a:srgbClr val="364A57"/>
                </a:solidFill>
                <a:latin typeface="Aptos"/>
              </a:rPr>
              <a:t>Data Modeling &amp; DAX</a:t>
            </a:r>
          </a:p>
          <a:p>
            <a:r>
              <a:rPr lang="en-US" b="1">
                <a:solidFill>
                  <a:srgbClr val="364A57"/>
                </a:solidFill>
                <a:latin typeface="Aptos"/>
              </a:rPr>
              <a:t>Executive Dashboard</a:t>
            </a:r>
          </a:p>
          <a:p>
            <a:r>
              <a:rPr lang="en-US" b="1">
                <a:solidFill>
                  <a:srgbClr val="364A57"/>
                </a:solidFill>
                <a:latin typeface="Aptos"/>
              </a:rPr>
              <a:t>Customer &amp; Sales Analysis</a:t>
            </a:r>
            <a:endParaRPr lang="en-US" b="1" dirty="0">
              <a:solidFill>
                <a:srgbClr val="364A57"/>
              </a:solidFill>
              <a:latin typeface="Aptos"/>
            </a:endParaRPr>
          </a:p>
          <a:p>
            <a:r>
              <a:rPr lang="en-US" b="1" dirty="0">
                <a:solidFill>
                  <a:srgbClr val="364A57"/>
                </a:solidFill>
                <a:latin typeface="Aptos"/>
              </a:rPr>
              <a:t> Film &amp; Inventory Analysis</a:t>
            </a:r>
          </a:p>
          <a:p>
            <a:r>
              <a:rPr lang="en-US" b="1">
                <a:solidFill>
                  <a:srgbClr val="364A57"/>
                </a:solidFill>
                <a:latin typeface="Aptos"/>
              </a:rPr>
              <a:t>Staff &amp; Store Performance</a:t>
            </a:r>
          </a:p>
          <a:p>
            <a:r>
              <a:rPr lang="en-US" b="1">
                <a:solidFill>
                  <a:srgbClr val="364A57"/>
                </a:solidFill>
                <a:latin typeface="Aptos"/>
              </a:rPr>
              <a:t>Geographic Revenue Analysis</a:t>
            </a:r>
          </a:p>
          <a:p>
            <a:r>
              <a:rPr lang="en-US" b="1">
                <a:solidFill>
                  <a:srgbClr val="364A57"/>
                </a:solidFill>
                <a:latin typeface="Aptos"/>
              </a:rPr>
              <a:t>Key Insights &amp; Business Findings</a:t>
            </a:r>
          </a:p>
          <a:p>
            <a:r>
              <a:rPr lang="en-US" b="1">
                <a:solidFill>
                  <a:srgbClr val="364A57"/>
                </a:solidFill>
                <a:latin typeface="Aptos"/>
                <a:ea typeface="+mn-lt"/>
                <a:cs typeface="+mn-lt"/>
              </a:rPr>
              <a:t>Conclusion &amp; Recommendations</a:t>
            </a:r>
            <a:endParaRPr lang="en-US" b="1">
              <a:solidFill>
                <a:srgbClr val="364A57"/>
              </a:solidFill>
              <a:latin typeface="Aptos"/>
            </a:endParaRPr>
          </a:p>
          <a:p>
            <a:endParaRPr lang="en-US" dirty="0"/>
          </a:p>
        </p:txBody>
      </p:sp>
    </p:spTree>
    <p:extLst>
      <p:ext uri="{BB962C8B-B14F-4D97-AF65-F5344CB8AC3E}">
        <p14:creationId xmlns:p14="http://schemas.microsoft.com/office/powerpoint/2010/main" val="2554996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0BE12-B476-1408-DEAE-24A7084AA739}"/>
              </a:ext>
            </a:extLst>
          </p:cNvPr>
          <p:cNvSpPr>
            <a:spLocks noGrp="1"/>
          </p:cNvSpPr>
          <p:nvPr>
            <p:ph type="title"/>
          </p:nvPr>
        </p:nvSpPr>
        <p:spPr>
          <a:xfrm>
            <a:off x="942987" y="632312"/>
            <a:ext cx="9238434" cy="572957"/>
          </a:xfrm>
        </p:spPr>
        <p:txBody>
          <a:bodyPr/>
          <a:lstStyle/>
          <a:p>
            <a:r>
              <a:rPr lang="en-US">
                <a:solidFill>
                  <a:srgbClr val="364A57"/>
                </a:solidFill>
                <a:ea typeface="+mj-lt"/>
                <a:cs typeface="+mj-lt"/>
              </a:rPr>
              <a:t>PROJECT OVERVIEW</a:t>
            </a:r>
            <a:endParaRPr lang="en-US">
              <a:solidFill>
                <a:srgbClr val="364A57"/>
              </a:solidFill>
            </a:endParaRPr>
          </a:p>
        </p:txBody>
      </p:sp>
      <p:sp>
        <p:nvSpPr>
          <p:cNvPr id="3" name="Content Placeholder 2">
            <a:extLst>
              <a:ext uri="{FF2B5EF4-FFF2-40B4-BE49-F238E27FC236}">
                <a16:creationId xmlns:a16="http://schemas.microsoft.com/office/drawing/2014/main" id="{561FD0B8-0B9A-3B0E-A083-B992558922AE}"/>
              </a:ext>
            </a:extLst>
          </p:cNvPr>
          <p:cNvSpPr>
            <a:spLocks noGrp="1"/>
          </p:cNvSpPr>
          <p:nvPr>
            <p:ph idx="1"/>
          </p:nvPr>
        </p:nvSpPr>
        <p:spPr>
          <a:xfrm>
            <a:off x="942988" y="1715914"/>
            <a:ext cx="10551276" cy="953412"/>
          </a:xfrm>
        </p:spPr>
        <p:txBody>
          <a:bodyPr vert="horz" lIns="91440" tIns="45720" rIns="91440" bIns="45720" rtlCol="0" anchor="t">
            <a:normAutofit/>
          </a:bodyPr>
          <a:lstStyle/>
          <a:p>
            <a:pPr marL="0" indent="0">
              <a:lnSpc>
                <a:spcPct val="100000"/>
              </a:lnSpc>
              <a:buNone/>
            </a:pPr>
            <a:r>
              <a:rPr lang="en-US" sz="1600" dirty="0">
                <a:solidFill>
                  <a:srgbClr val="364A57"/>
                </a:solidFill>
                <a:latin typeface="Aptos"/>
                <a:ea typeface="+mn-lt"/>
                <a:cs typeface="+mn-lt"/>
              </a:rPr>
              <a:t>The objective of this project is to analyze the Sakila Movie Rental database and build an interactive Business Intelligence dashboard to uncover insights related to revenue, customer behavior, film performance, inventory trends, store operations, and geographic revenue distribution.</a:t>
            </a:r>
            <a:endParaRPr lang="en-US" sz="1600">
              <a:solidFill>
                <a:srgbClr val="364A57"/>
              </a:solidFill>
              <a:latin typeface="Aptos"/>
            </a:endParaRPr>
          </a:p>
        </p:txBody>
      </p:sp>
      <p:sp>
        <p:nvSpPr>
          <p:cNvPr id="4" name="Date Placeholder 3">
            <a:extLst>
              <a:ext uri="{FF2B5EF4-FFF2-40B4-BE49-F238E27FC236}">
                <a16:creationId xmlns:a16="http://schemas.microsoft.com/office/drawing/2014/main" id="{8E0E6E26-2D25-11D8-816E-8907F6C14C69}"/>
              </a:ext>
            </a:extLst>
          </p:cNvPr>
          <p:cNvSpPr>
            <a:spLocks noGrp="1"/>
          </p:cNvSpPr>
          <p:nvPr>
            <p:ph type="dt" sz="half" idx="10"/>
          </p:nvPr>
        </p:nvSpPr>
        <p:spPr/>
        <p:txBody>
          <a:bodyPr/>
          <a:lstStyle/>
          <a:p>
            <a:fld id="{DC300A8B-5C21-4229-9418-5E03CD747BD1}" type="datetime1">
              <a:t>5/16/2026</a:t>
            </a:fld>
            <a:endParaRPr lang="en-US" dirty="0"/>
          </a:p>
        </p:txBody>
      </p:sp>
      <p:sp>
        <p:nvSpPr>
          <p:cNvPr id="5" name="Footer Placeholder 4">
            <a:extLst>
              <a:ext uri="{FF2B5EF4-FFF2-40B4-BE49-F238E27FC236}">
                <a16:creationId xmlns:a16="http://schemas.microsoft.com/office/drawing/2014/main" id="{5E78DD73-E1D6-363A-AB25-C0FA40AA1B2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29E4E75-2252-4DB4-E619-5E376B053EB5}"/>
              </a:ext>
            </a:extLst>
          </p:cNvPr>
          <p:cNvSpPr>
            <a:spLocks noGrp="1"/>
          </p:cNvSpPr>
          <p:nvPr>
            <p:ph type="sldNum" sz="quarter" idx="12"/>
          </p:nvPr>
        </p:nvSpPr>
        <p:spPr/>
        <p:txBody>
          <a:bodyPr/>
          <a:lstStyle/>
          <a:p>
            <a:fld id="{196A61CA-0502-4EE4-9724-96EA822543E5}" type="slidenum">
              <a:rPr lang="en-US" dirty="0"/>
              <a:t>3</a:t>
            </a:fld>
            <a:endParaRPr lang="en-US" dirty="0"/>
          </a:p>
        </p:txBody>
      </p:sp>
      <p:sp>
        <p:nvSpPr>
          <p:cNvPr id="7" name="TextBox 6">
            <a:extLst>
              <a:ext uri="{FF2B5EF4-FFF2-40B4-BE49-F238E27FC236}">
                <a16:creationId xmlns:a16="http://schemas.microsoft.com/office/drawing/2014/main" id="{AA47AC48-EDDD-DB21-03B3-741A9AD91803}"/>
              </a:ext>
            </a:extLst>
          </p:cNvPr>
          <p:cNvSpPr txBox="1"/>
          <p:nvPr/>
        </p:nvSpPr>
        <p:spPr>
          <a:xfrm>
            <a:off x="943223" y="1337995"/>
            <a:ext cx="203547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364A57"/>
                </a:solidFill>
                <a:ea typeface="+mn-lt"/>
                <a:cs typeface="+mn-lt"/>
              </a:rPr>
              <a:t>Objective</a:t>
            </a:r>
            <a:endParaRPr lang="en-US" b="1">
              <a:solidFill>
                <a:srgbClr val="364A57"/>
              </a:solidFill>
            </a:endParaRPr>
          </a:p>
        </p:txBody>
      </p:sp>
      <p:sp>
        <p:nvSpPr>
          <p:cNvPr id="8" name="TextBox 7">
            <a:extLst>
              <a:ext uri="{FF2B5EF4-FFF2-40B4-BE49-F238E27FC236}">
                <a16:creationId xmlns:a16="http://schemas.microsoft.com/office/drawing/2014/main" id="{502C68FE-CA60-58D1-696B-F3F0F34511D1}"/>
              </a:ext>
            </a:extLst>
          </p:cNvPr>
          <p:cNvSpPr txBox="1"/>
          <p:nvPr/>
        </p:nvSpPr>
        <p:spPr>
          <a:xfrm>
            <a:off x="945614" y="2673917"/>
            <a:ext cx="215747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364A57"/>
                </a:solidFill>
                <a:ea typeface="+mn-lt"/>
                <a:cs typeface="+mn-lt"/>
              </a:rPr>
              <a:t>Business Goals</a:t>
            </a:r>
            <a:endParaRPr lang="en-US" b="1"/>
          </a:p>
          <a:p>
            <a:pPr algn="ctr"/>
            <a:endParaRPr lang="en-US"/>
          </a:p>
        </p:txBody>
      </p:sp>
      <p:sp>
        <p:nvSpPr>
          <p:cNvPr id="9" name="TextBox 8">
            <a:extLst>
              <a:ext uri="{FF2B5EF4-FFF2-40B4-BE49-F238E27FC236}">
                <a16:creationId xmlns:a16="http://schemas.microsoft.com/office/drawing/2014/main" id="{B40F752A-3A88-835E-5CC9-31B647C3F06A}"/>
              </a:ext>
            </a:extLst>
          </p:cNvPr>
          <p:cNvSpPr txBox="1"/>
          <p:nvPr/>
        </p:nvSpPr>
        <p:spPr>
          <a:xfrm>
            <a:off x="946997" y="2997694"/>
            <a:ext cx="10417479"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364A57"/>
                </a:solidFill>
                <a:latin typeface="Aptos"/>
                <a:ea typeface="+mn-lt"/>
                <a:cs typeface="+mn-lt"/>
              </a:rPr>
              <a:t>• Analyze rental revenue trends across different countries</a:t>
            </a:r>
            <a:br>
              <a:rPr lang="en-US" sz="1600" dirty="0">
                <a:latin typeface="Aptos"/>
                <a:ea typeface="+mn-lt"/>
                <a:cs typeface="+mn-lt"/>
              </a:rPr>
            </a:br>
            <a:r>
              <a:rPr lang="en-US" sz="1600" dirty="0">
                <a:solidFill>
                  <a:srgbClr val="364A57"/>
                </a:solidFill>
                <a:latin typeface="Aptos"/>
                <a:ea typeface="+mn-lt"/>
                <a:cs typeface="+mn-lt"/>
              </a:rPr>
              <a:t>• Understand customer purchasing behavior and payment preferences</a:t>
            </a:r>
            <a:br>
              <a:rPr lang="en-US" sz="1600" dirty="0">
                <a:latin typeface="Aptos"/>
                <a:ea typeface="+mn-lt"/>
                <a:cs typeface="+mn-lt"/>
              </a:rPr>
            </a:br>
            <a:r>
              <a:rPr lang="en-US" sz="1600" dirty="0">
                <a:solidFill>
                  <a:srgbClr val="364A57"/>
                </a:solidFill>
                <a:latin typeface="Aptos"/>
                <a:ea typeface="+mn-lt"/>
                <a:cs typeface="+mn-lt"/>
              </a:rPr>
              <a:t>• Identify top-performing film categories and inventory patterns</a:t>
            </a:r>
            <a:br>
              <a:rPr lang="en-US" sz="1600" dirty="0">
                <a:latin typeface="Aptos"/>
                <a:ea typeface="+mn-lt"/>
                <a:cs typeface="+mn-lt"/>
              </a:rPr>
            </a:br>
            <a:r>
              <a:rPr lang="en-US" sz="1600" dirty="0">
                <a:solidFill>
                  <a:srgbClr val="364A57"/>
                </a:solidFill>
                <a:latin typeface="Aptos"/>
                <a:ea typeface="+mn-lt"/>
                <a:cs typeface="+mn-lt"/>
              </a:rPr>
              <a:t>• Evaluate staff and store performance</a:t>
            </a:r>
            <a:br>
              <a:rPr lang="en-US" sz="1600" dirty="0">
                <a:latin typeface="Aptos"/>
                <a:ea typeface="+mn-lt"/>
                <a:cs typeface="+mn-lt"/>
              </a:rPr>
            </a:br>
            <a:r>
              <a:rPr lang="en-US" sz="1600" dirty="0">
                <a:solidFill>
                  <a:srgbClr val="364A57"/>
                </a:solidFill>
                <a:latin typeface="Aptos"/>
                <a:ea typeface="+mn-lt"/>
                <a:cs typeface="+mn-lt"/>
              </a:rPr>
              <a:t>• Generate actionable business insights using Power BI dashboards</a:t>
            </a:r>
            <a:endParaRPr lang="en-US" sz="1600" dirty="0">
              <a:solidFill>
                <a:srgbClr val="364A57"/>
              </a:solidFill>
              <a:latin typeface="Aptos"/>
            </a:endParaRPr>
          </a:p>
        </p:txBody>
      </p:sp>
      <p:sp>
        <p:nvSpPr>
          <p:cNvPr id="11" name="TextBox 10">
            <a:extLst>
              <a:ext uri="{FF2B5EF4-FFF2-40B4-BE49-F238E27FC236}">
                <a16:creationId xmlns:a16="http://schemas.microsoft.com/office/drawing/2014/main" id="{A319EC2F-9B01-A650-3C0F-D02780A5E4C7}"/>
              </a:ext>
            </a:extLst>
          </p:cNvPr>
          <p:cNvSpPr txBox="1"/>
          <p:nvPr/>
        </p:nvSpPr>
        <p:spPr>
          <a:xfrm>
            <a:off x="1028871" y="4467743"/>
            <a:ext cx="24964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364A57"/>
                </a:solidFill>
              </a:rPr>
              <a:t>Project Workflow</a:t>
            </a:r>
          </a:p>
          <a:p>
            <a:pPr algn="l"/>
            <a:endParaRPr lang="en-US" dirty="0"/>
          </a:p>
        </p:txBody>
      </p:sp>
      <p:graphicFrame>
        <p:nvGraphicFramePr>
          <p:cNvPr id="65" name="Diagram 64">
            <a:extLst>
              <a:ext uri="{FF2B5EF4-FFF2-40B4-BE49-F238E27FC236}">
                <a16:creationId xmlns:a16="http://schemas.microsoft.com/office/drawing/2014/main" id="{403D55C5-BBDB-B5EA-D2D3-BE1292F99150}"/>
              </a:ext>
            </a:extLst>
          </p:cNvPr>
          <p:cNvGraphicFramePr/>
          <p:nvPr>
            <p:extLst>
              <p:ext uri="{D42A27DB-BD31-4B8C-83A1-F6EECF244321}">
                <p14:modId xmlns:p14="http://schemas.microsoft.com/office/powerpoint/2010/main" val="4142978753"/>
              </p:ext>
            </p:extLst>
          </p:nvPr>
        </p:nvGraphicFramePr>
        <p:xfrm>
          <a:off x="1033397" y="3750502"/>
          <a:ext cx="4613753" cy="35740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38367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l="-6000" r="-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D33FB-499A-E4D2-6700-2C59B1013BFA}"/>
              </a:ext>
            </a:extLst>
          </p:cNvPr>
          <p:cNvSpPr>
            <a:spLocks noGrp="1"/>
          </p:cNvSpPr>
          <p:nvPr>
            <p:ph type="title"/>
          </p:nvPr>
        </p:nvSpPr>
        <p:spPr>
          <a:xfrm>
            <a:off x="709319" y="126870"/>
            <a:ext cx="9238434" cy="857559"/>
          </a:xfrm>
        </p:spPr>
        <p:txBody>
          <a:bodyPr/>
          <a:lstStyle/>
          <a:p>
            <a:r>
              <a:rPr lang="en-US">
                <a:ea typeface="+mj-lt"/>
                <a:cs typeface="+mj-lt"/>
              </a:rPr>
              <a:t>DATA CLEANING &amp; PREPARATION</a:t>
            </a:r>
            <a:endParaRPr lang="en-US"/>
          </a:p>
        </p:txBody>
      </p:sp>
      <p:sp>
        <p:nvSpPr>
          <p:cNvPr id="3" name="Content Placeholder 2">
            <a:extLst>
              <a:ext uri="{FF2B5EF4-FFF2-40B4-BE49-F238E27FC236}">
                <a16:creationId xmlns:a16="http://schemas.microsoft.com/office/drawing/2014/main" id="{A4AFB0E6-479E-10AA-C98E-AF3FF72E3F13}"/>
              </a:ext>
            </a:extLst>
          </p:cNvPr>
          <p:cNvSpPr>
            <a:spLocks noGrp="1"/>
          </p:cNvSpPr>
          <p:nvPr>
            <p:ph idx="1"/>
          </p:nvPr>
        </p:nvSpPr>
        <p:spPr>
          <a:xfrm>
            <a:off x="709319" y="1419616"/>
            <a:ext cx="10522351" cy="772439"/>
          </a:xfrm>
        </p:spPr>
        <p:txBody>
          <a:bodyPr vert="horz" lIns="91440" tIns="45720" rIns="91440" bIns="45720" rtlCol="0" anchor="t">
            <a:normAutofit/>
          </a:bodyPr>
          <a:lstStyle/>
          <a:p>
            <a:pPr marL="0" indent="0">
              <a:lnSpc>
                <a:spcPct val="100000"/>
              </a:lnSpc>
              <a:buNone/>
            </a:pPr>
            <a:r>
              <a:rPr lang="en-US" sz="1600" dirty="0">
                <a:latin typeface="Aptos"/>
                <a:ea typeface="+mn-lt"/>
                <a:cs typeface="+mn-lt"/>
              </a:rPr>
              <a:t>The project uses the Sakila Movie Rental database containing customer, rental, payment, film, inventory, staff, and store-related data.</a:t>
            </a:r>
            <a:endParaRPr lang="en-US" sz="1600" dirty="0">
              <a:latin typeface="Aptos"/>
            </a:endParaRPr>
          </a:p>
        </p:txBody>
      </p:sp>
      <p:sp>
        <p:nvSpPr>
          <p:cNvPr id="4" name="Date Placeholder 3">
            <a:extLst>
              <a:ext uri="{FF2B5EF4-FFF2-40B4-BE49-F238E27FC236}">
                <a16:creationId xmlns:a16="http://schemas.microsoft.com/office/drawing/2014/main" id="{BC23B4B4-E5D9-9626-7536-6DD7F4E30DE9}"/>
              </a:ext>
            </a:extLst>
          </p:cNvPr>
          <p:cNvSpPr>
            <a:spLocks noGrp="1"/>
          </p:cNvSpPr>
          <p:nvPr>
            <p:ph type="dt" sz="half" idx="10"/>
          </p:nvPr>
        </p:nvSpPr>
        <p:spPr/>
        <p:txBody>
          <a:bodyPr/>
          <a:lstStyle/>
          <a:p>
            <a:fld id="{154D8829-A850-4102-9A80-1B977DD41C8A}" type="datetime1">
              <a:t>5/16/2026</a:t>
            </a:fld>
            <a:endParaRPr lang="en-US" dirty="0"/>
          </a:p>
        </p:txBody>
      </p:sp>
      <p:sp>
        <p:nvSpPr>
          <p:cNvPr id="5" name="Footer Placeholder 4">
            <a:extLst>
              <a:ext uri="{FF2B5EF4-FFF2-40B4-BE49-F238E27FC236}">
                <a16:creationId xmlns:a16="http://schemas.microsoft.com/office/drawing/2014/main" id="{044D773F-FD3A-5CDA-E63A-8D4D2F09748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8B35B66-A46D-EADF-A693-EB79E0682482}"/>
              </a:ext>
            </a:extLst>
          </p:cNvPr>
          <p:cNvSpPr>
            <a:spLocks noGrp="1"/>
          </p:cNvSpPr>
          <p:nvPr>
            <p:ph type="sldNum" sz="quarter" idx="12"/>
          </p:nvPr>
        </p:nvSpPr>
        <p:spPr/>
        <p:txBody>
          <a:bodyPr/>
          <a:lstStyle/>
          <a:p>
            <a:fld id="{196A61CA-0502-4EE4-9724-96EA822543E5}" type="slidenum">
              <a:rPr lang="en-US" dirty="0"/>
              <a:t>4</a:t>
            </a:fld>
            <a:endParaRPr lang="en-US" dirty="0"/>
          </a:p>
        </p:txBody>
      </p:sp>
      <p:sp>
        <p:nvSpPr>
          <p:cNvPr id="7" name="TextBox 6">
            <a:extLst>
              <a:ext uri="{FF2B5EF4-FFF2-40B4-BE49-F238E27FC236}">
                <a16:creationId xmlns:a16="http://schemas.microsoft.com/office/drawing/2014/main" id="{0FC11460-0476-862C-D60A-99E1E524B825}"/>
              </a:ext>
            </a:extLst>
          </p:cNvPr>
          <p:cNvSpPr txBox="1"/>
          <p:nvPr/>
        </p:nvSpPr>
        <p:spPr>
          <a:xfrm>
            <a:off x="709808" y="1054274"/>
            <a:ext cx="218161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Data Source</a:t>
            </a:r>
            <a:endParaRPr lang="en-US" b="1"/>
          </a:p>
        </p:txBody>
      </p:sp>
      <p:sp>
        <p:nvSpPr>
          <p:cNvPr id="8" name="TextBox 7">
            <a:extLst>
              <a:ext uri="{FF2B5EF4-FFF2-40B4-BE49-F238E27FC236}">
                <a16:creationId xmlns:a16="http://schemas.microsoft.com/office/drawing/2014/main" id="{E876C758-AF9A-896A-42C8-E850A33858B0}"/>
              </a:ext>
            </a:extLst>
          </p:cNvPr>
          <p:cNvSpPr txBox="1"/>
          <p:nvPr/>
        </p:nvSpPr>
        <p:spPr>
          <a:xfrm>
            <a:off x="709808" y="2192054"/>
            <a:ext cx="340290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Data Cleaning Process</a:t>
            </a:r>
            <a:endParaRPr lang="en-US" b="1"/>
          </a:p>
        </p:txBody>
      </p:sp>
      <p:graphicFrame>
        <p:nvGraphicFramePr>
          <p:cNvPr id="9" name="Diagram 8">
            <a:extLst>
              <a:ext uri="{FF2B5EF4-FFF2-40B4-BE49-F238E27FC236}">
                <a16:creationId xmlns:a16="http://schemas.microsoft.com/office/drawing/2014/main" id="{63E6D264-6878-5AD8-63E8-6C73F0F888EC}"/>
              </a:ext>
            </a:extLst>
          </p:cNvPr>
          <p:cNvGraphicFramePr/>
          <p:nvPr>
            <p:extLst>
              <p:ext uri="{D42A27DB-BD31-4B8C-83A1-F6EECF244321}">
                <p14:modId xmlns:p14="http://schemas.microsoft.com/office/powerpoint/2010/main" val="3512070167"/>
              </p:ext>
            </p:extLst>
          </p:nvPr>
        </p:nvGraphicFramePr>
        <p:xfrm>
          <a:off x="793316" y="1422748"/>
          <a:ext cx="10438355" cy="365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6" name="TextBox 215">
            <a:extLst>
              <a:ext uri="{FF2B5EF4-FFF2-40B4-BE49-F238E27FC236}">
                <a16:creationId xmlns:a16="http://schemas.microsoft.com/office/drawing/2014/main" id="{E47ED9C2-D15E-D04A-C62D-B8BE0DD995D7}"/>
              </a:ext>
            </a:extLst>
          </p:cNvPr>
          <p:cNvSpPr txBox="1"/>
          <p:nvPr/>
        </p:nvSpPr>
        <p:spPr>
          <a:xfrm>
            <a:off x="709807" y="4217095"/>
            <a:ext cx="303756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SQL Data Preparation</a:t>
            </a:r>
            <a:endParaRPr lang="en-US" b="1"/>
          </a:p>
        </p:txBody>
      </p:sp>
      <p:sp>
        <p:nvSpPr>
          <p:cNvPr id="217" name="TextBox 216">
            <a:extLst>
              <a:ext uri="{FF2B5EF4-FFF2-40B4-BE49-F238E27FC236}">
                <a16:creationId xmlns:a16="http://schemas.microsoft.com/office/drawing/2014/main" id="{69128FAD-C1F7-C615-BE44-FF8CA6917933}"/>
              </a:ext>
            </a:extLst>
          </p:cNvPr>
          <p:cNvSpPr txBox="1"/>
          <p:nvPr/>
        </p:nvSpPr>
        <p:spPr>
          <a:xfrm>
            <a:off x="709807" y="4582439"/>
            <a:ext cx="1002082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tos"/>
                <a:ea typeface="+mn-lt"/>
                <a:cs typeface="+mn-lt"/>
              </a:rPr>
              <a:t> • Imported cleaned datasets into SQL Workbench</a:t>
            </a:r>
            <a:br>
              <a:rPr lang="en-US" sz="1600" dirty="0">
                <a:latin typeface="Aptos"/>
                <a:ea typeface="+mn-lt"/>
                <a:cs typeface="+mn-lt"/>
              </a:rPr>
            </a:br>
            <a:r>
              <a:rPr lang="en-US" sz="1600">
                <a:latin typeface="Aptos"/>
                <a:ea typeface="+mn-lt"/>
                <a:cs typeface="+mn-lt"/>
              </a:rPr>
              <a:t> • Verified table relationships and data integrity</a:t>
            </a:r>
            <a:br>
              <a:rPr lang="en-US" sz="1600" dirty="0">
                <a:latin typeface="Aptos"/>
                <a:ea typeface="+mn-lt"/>
                <a:cs typeface="+mn-lt"/>
              </a:rPr>
            </a:br>
            <a:r>
              <a:rPr lang="en-US" sz="1600">
                <a:latin typeface="Aptos"/>
                <a:ea typeface="+mn-lt"/>
                <a:cs typeface="+mn-lt"/>
              </a:rPr>
              <a:t> • Performed data validation checks using SQL queries</a:t>
            </a:r>
            <a:endParaRPr lang="en-US" sz="1600">
              <a:latin typeface="Aptos"/>
            </a:endParaRPr>
          </a:p>
        </p:txBody>
      </p:sp>
      <p:sp>
        <p:nvSpPr>
          <p:cNvPr id="218" name="TextBox 217">
            <a:extLst>
              <a:ext uri="{FF2B5EF4-FFF2-40B4-BE49-F238E27FC236}">
                <a16:creationId xmlns:a16="http://schemas.microsoft.com/office/drawing/2014/main" id="{5C6BA413-A391-7586-47BC-823F7C2970A0}"/>
              </a:ext>
            </a:extLst>
          </p:cNvPr>
          <p:cNvSpPr txBox="1"/>
          <p:nvPr/>
        </p:nvSpPr>
        <p:spPr>
          <a:xfrm>
            <a:off x="793315" y="5699342"/>
            <a:ext cx="808972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Raw Data → Excel Cleaning → SQL Loading → Validation → Power BI</a:t>
            </a:r>
            <a:endParaRPr lang="en-US" b="1"/>
          </a:p>
          <a:p>
            <a:pPr algn="l"/>
            <a:endParaRPr lang="en-US" dirty="0"/>
          </a:p>
        </p:txBody>
      </p:sp>
    </p:spTree>
    <p:extLst>
      <p:ext uri="{BB962C8B-B14F-4D97-AF65-F5344CB8AC3E}">
        <p14:creationId xmlns:p14="http://schemas.microsoft.com/office/powerpoint/2010/main" val="3420164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65000"/>
            <a:lumOff val="3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4E2E9-D8C8-0B18-4A12-992C97DC1892}"/>
              </a:ext>
            </a:extLst>
          </p:cNvPr>
          <p:cNvSpPr>
            <a:spLocks noGrp="1"/>
          </p:cNvSpPr>
          <p:nvPr>
            <p:ph type="title"/>
          </p:nvPr>
        </p:nvSpPr>
        <p:spPr>
          <a:xfrm>
            <a:off x="768554" y="301806"/>
            <a:ext cx="9238434" cy="857559"/>
          </a:xfrm>
        </p:spPr>
        <p:txBody>
          <a:bodyPr/>
          <a:lstStyle/>
          <a:p>
            <a:r>
              <a:rPr lang="en-US">
                <a:ea typeface="+mj-lt"/>
                <a:cs typeface="+mj-lt"/>
              </a:rPr>
              <a:t>DATA MODELING &amp; DAX</a:t>
            </a:r>
            <a:endParaRPr lang="en-US"/>
          </a:p>
        </p:txBody>
      </p:sp>
      <p:sp>
        <p:nvSpPr>
          <p:cNvPr id="3" name="Content Placeholder 2">
            <a:extLst>
              <a:ext uri="{FF2B5EF4-FFF2-40B4-BE49-F238E27FC236}">
                <a16:creationId xmlns:a16="http://schemas.microsoft.com/office/drawing/2014/main" id="{BBA6D0D9-6087-FA78-A674-89FF00662398}"/>
              </a:ext>
            </a:extLst>
          </p:cNvPr>
          <p:cNvSpPr>
            <a:spLocks noGrp="1"/>
          </p:cNvSpPr>
          <p:nvPr>
            <p:ph idx="1"/>
          </p:nvPr>
        </p:nvSpPr>
        <p:spPr>
          <a:xfrm>
            <a:off x="786915" y="1716795"/>
            <a:ext cx="9238434" cy="1221037"/>
          </a:xfrm>
        </p:spPr>
        <p:txBody>
          <a:bodyPr vert="horz" lIns="91440" tIns="45720" rIns="91440" bIns="45720" rtlCol="0" anchor="t">
            <a:normAutofit/>
          </a:bodyPr>
          <a:lstStyle/>
          <a:p>
            <a:pPr marL="0" indent="0">
              <a:lnSpc>
                <a:spcPct val="100000"/>
              </a:lnSpc>
              <a:buNone/>
            </a:pPr>
            <a:r>
              <a:rPr lang="en-US" sz="1600" dirty="0">
                <a:latin typeface="Aptos"/>
                <a:ea typeface="+mn-lt"/>
                <a:cs typeface="+mn-lt"/>
              </a:rPr>
              <a:t>• Built table relationships in Power BI</a:t>
            </a:r>
            <a:br>
              <a:rPr lang="en-US" sz="1600" dirty="0">
                <a:latin typeface="Aptos"/>
                <a:ea typeface="+mn-lt"/>
                <a:cs typeface="+mn-lt"/>
              </a:rPr>
            </a:br>
            <a:r>
              <a:rPr lang="en-US" sz="1600">
                <a:latin typeface="Aptos"/>
                <a:ea typeface="+mn-lt"/>
                <a:cs typeface="+mn-lt"/>
              </a:rPr>
              <a:t>• Connected customer, rental, payment, film, and inventory tables</a:t>
            </a:r>
            <a:br>
              <a:rPr lang="en-US" sz="1600" dirty="0">
                <a:latin typeface="Aptos"/>
                <a:ea typeface="+mn-lt"/>
                <a:cs typeface="+mn-lt"/>
              </a:rPr>
            </a:br>
            <a:r>
              <a:rPr lang="en-US" sz="1600">
                <a:latin typeface="Aptos"/>
                <a:ea typeface="+mn-lt"/>
                <a:cs typeface="+mn-lt"/>
              </a:rPr>
              <a:t>• Created a structured relational data model</a:t>
            </a:r>
            <a:endParaRPr lang="en-US" sz="1600">
              <a:latin typeface="Aptos"/>
            </a:endParaRPr>
          </a:p>
        </p:txBody>
      </p:sp>
      <p:sp>
        <p:nvSpPr>
          <p:cNvPr id="4" name="Date Placeholder 3">
            <a:extLst>
              <a:ext uri="{FF2B5EF4-FFF2-40B4-BE49-F238E27FC236}">
                <a16:creationId xmlns:a16="http://schemas.microsoft.com/office/drawing/2014/main" id="{EC17E542-749D-7A70-D51E-2C90FFC8D67E}"/>
              </a:ext>
            </a:extLst>
          </p:cNvPr>
          <p:cNvSpPr>
            <a:spLocks noGrp="1"/>
          </p:cNvSpPr>
          <p:nvPr>
            <p:ph type="dt" sz="half" idx="10"/>
          </p:nvPr>
        </p:nvSpPr>
        <p:spPr/>
        <p:txBody>
          <a:bodyPr/>
          <a:lstStyle/>
          <a:p>
            <a:fld id="{ED0A77DB-C27D-4E4B-B639-6C7F18A4CE47}" type="datetime1">
              <a:t>5/16/2026</a:t>
            </a:fld>
            <a:endParaRPr lang="en-US" dirty="0"/>
          </a:p>
        </p:txBody>
      </p:sp>
      <p:sp>
        <p:nvSpPr>
          <p:cNvPr id="5" name="Footer Placeholder 4">
            <a:extLst>
              <a:ext uri="{FF2B5EF4-FFF2-40B4-BE49-F238E27FC236}">
                <a16:creationId xmlns:a16="http://schemas.microsoft.com/office/drawing/2014/main" id="{12DE77CF-02D8-11AD-A261-834D4800266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9CB9594-6ADF-5135-567C-DDD580C76A4D}"/>
              </a:ext>
            </a:extLst>
          </p:cNvPr>
          <p:cNvSpPr>
            <a:spLocks noGrp="1"/>
          </p:cNvSpPr>
          <p:nvPr>
            <p:ph type="sldNum" sz="quarter" idx="12"/>
          </p:nvPr>
        </p:nvSpPr>
        <p:spPr/>
        <p:txBody>
          <a:bodyPr/>
          <a:lstStyle/>
          <a:p>
            <a:fld id="{196A61CA-0502-4EE4-9724-96EA822543E5}" type="slidenum">
              <a:rPr lang="en-US" dirty="0"/>
              <a:t>5</a:t>
            </a:fld>
            <a:endParaRPr lang="en-US" dirty="0"/>
          </a:p>
        </p:txBody>
      </p:sp>
      <p:sp>
        <p:nvSpPr>
          <p:cNvPr id="7" name="TextBox 6">
            <a:extLst>
              <a:ext uri="{FF2B5EF4-FFF2-40B4-BE49-F238E27FC236}">
                <a16:creationId xmlns:a16="http://schemas.microsoft.com/office/drawing/2014/main" id="{42318736-FA80-C94D-0B8A-B988EF3F90AC}"/>
              </a:ext>
            </a:extLst>
          </p:cNvPr>
          <p:cNvSpPr txBox="1"/>
          <p:nvPr/>
        </p:nvSpPr>
        <p:spPr>
          <a:xfrm>
            <a:off x="769168" y="1350698"/>
            <a:ext cx="246345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Data Modeling</a:t>
            </a:r>
            <a:endParaRPr lang="en-US" b="1"/>
          </a:p>
        </p:txBody>
      </p:sp>
      <p:sp>
        <p:nvSpPr>
          <p:cNvPr id="8" name="TextBox 7">
            <a:extLst>
              <a:ext uri="{FF2B5EF4-FFF2-40B4-BE49-F238E27FC236}">
                <a16:creationId xmlns:a16="http://schemas.microsoft.com/office/drawing/2014/main" id="{10E1C1EF-90EF-2201-E9A1-4AA46873DFBB}"/>
              </a:ext>
            </a:extLst>
          </p:cNvPr>
          <p:cNvSpPr txBox="1"/>
          <p:nvPr/>
        </p:nvSpPr>
        <p:spPr>
          <a:xfrm>
            <a:off x="771682" y="2770817"/>
            <a:ext cx="41962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DAX Measures</a:t>
            </a:r>
            <a:endParaRPr lang="en-US" b="1"/>
          </a:p>
        </p:txBody>
      </p:sp>
      <p:sp>
        <p:nvSpPr>
          <p:cNvPr id="9" name="TextBox 8">
            <a:extLst>
              <a:ext uri="{FF2B5EF4-FFF2-40B4-BE49-F238E27FC236}">
                <a16:creationId xmlns:a16="http://schemas.microsoft.com/office/drawing/2014/main" id="{3477C78C-BC45-FE13-D5E6-9F1D7946D227}"/>
              </a:ext>
            </a:extLst>
          </p:cNvPr>
          <p:cNvSpPr txBox="1"/>
          <p:nvPr/>
        </p:nvSpPr>
        <p:spPr>
          <a:xfrm>
            <a:off x="772941" y="3218408"/>
            <a:ext cx="5845479"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tos"/>
                <a:ea typeface="+mn-lt"/>
                <a:cs typeface="+mn-lt"/>
              </a:rPr>
              <a:t> • Total Revenue</a:t>
            </a:r>
            <a:br>
              <a:rPr lang="en-US" sz="1600" dirty="0">
                <a:latin typeface="Aptos"/>
                <a:ea typeface="+mn-lt"/>
                <a:cs typeface="+mn-lt"/>
              </a:rPr>
            </a:br>
            <a:r>
              <a:rPr lang="en-US" sz="1600">
                <a:latin typeface="Aptos"/>
                <a:ea typeface="+mn-lt"/>
                <a:cs typeface="+mn-lt"/>
              </a:rPr>
              <a:t> • Total Rentals</a:t>
            </a:r>
            <a:br>
              <a:rPr lang="en-US" sz="1600" dirty="0">
                <a:latin typeface="Aptos"/>
                <a:ea typeface="+mn-lt"/>
                <a:cs typeface="+mn-lt"/>
              </a:rPr>
            </a:br>
            <a:r>
              <a:rPr lang="en-US" sz="1600">
                <a:latin typeface="Aptos"/>
                <a:ea typeface="+mn-lt"/>
                <a:cs typeface="+mn-lt"/>
              </a:rPr>
              <a:t> • Total Customers</a:t>
            </a:r>
            <a:br>
              <a:rPr lang="en-US" sz="1600" dirty="0">
                <a:latin typeface="Aptos"/>
                <a:ea typeface="+mn-lt"/>
                <a:cs typeface="+mn-lt"/>
              </a:rPr>
            </a:br>
            <a:r>
              <a:rPr lang="en-US" sz="1600">
                <a:latin typeface="Aptos"/>
                <a:ea typeface="+mn-lt"/>
                <a:cs typeface="+mn-lt"/>
              </a:rPr>
              <a:t> • Average Customer Rating</a:t>
            </a:r>
            <a:br>
              <a:rPr lang="en-US" sz="1600" dirty="0">
                <a:latin typeface="Aptos"/>
                <a:ea typeface="+mn-lt"/>
                <a:cs typeface="+mn-lt"/>
              </a:rPr>
            </a:br>
            <a:r>
              <a:rPr lang="en-US" sz="1600">
                <a:latin typeface="Aptos"/>
                <a:ea typeface="+mn-lt"/>
                <a:cs typeface="+mn-lt"/>
              </a:rPr>
              <a:t> • Top Revenue Country</a:t>
            </a:r>
            <a:br>
              <a:rPr lang="en-US" sz="1600" dirty="0">
                <a:latin typeface="Aptos"/>
                <a:ea typeface="+mn-lt"/>
                <a:cs typeface="+mn-lt"/>
              </a:rPr>
            </a:br>
            <a:r>
              <a:rPr lang="en-US" sz="1600">
                <a:latin typeface="Aptos"/>
                <a:ea typeface="+mn-lt"/>
                <a:cs typeface="+mn-lt"/>
              </a:rPr>
              <a:t> • Top Film Category</a:t>
            </a:r>
            <a:endParaRPr lang="en-US" sz="1600">
              <a:latin typeface="Aptos"/>
            </a:endParaRPr>
          </a:p>
          <a:p>
            <a:pPr algn="l"/>
            <a:endParaRPr lang="en-US" dirty="0"/>
          </a:p>
        </p:txBody>
      </p:sp>
      <p:sp>
        <p:nvSpPr>
          <p:cNvPr id="10" name="TextBox 9">
            <a:extLst>
              <a:ext uri="{FF2B5EF4-FFF2-40B4-BE49-F238E27FC236}">
                <a16:creationId xmlns:a16="http://schemas.microsoft.com/office/drawing/2014/main" id="{65EB98CF-364E-1352-4F9B-6197CD833617}"/>
              </a:ext>
            </a:extLst>
          </p:cNvPr>
          <p:cNvSpPr txBox="1"/>
          <p:nvPr/>
        </p:nvSpPr>
        <p:spPr>
          <a:xfrm>
            <a:off x="835697" y="4987018"/>
            <a:ext cx="46346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ea typeface="+mn-lt"/>
                <a:cs typeface="+mn-lt"/>
              </a:rPr>
              <a:t>Outcome</a:t>
            </a:r>
            <a:endParaRPr lang="en-US" b="1"/>
          </a:p>
        </p:txBody>
      </p:sp>
      <p:sp>
        <p:nvSpPr>
          <p:cNvPr id="11" name="TextBox 10">
            <a:extLst>
              <a:ext uri="{FF2B5EF4-FFF2-40B4-BE49-F238E27FC236}">
                <a16:creationId xmlns:a16="http://schemas.microsoft.com/office/drawing/2014/main" id="{D75D20FF-BCB0-8444-0DB8-B9F127208BDD}"/>
              </a:ext>
            </a:extLst>
          </p:cNvPr>
          <p:cNvSpPr txBox="1"/>
          <p:nvPr/>
        </p:nvSpPr>
        <p:spPr>
          <a:xfrm>
            <a:off x="848902" y="5428448"/>
            <a:ext cx="910224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tos"/>
                <a:ea typeface="+mn-lt"/>
                <a:cs typeface="+mn-lt"/>
              </a:rPr>
              <a:t>Created dynamic KPI measures and an optimized data model for interactive dashboard reporting.</a:t>
            </a:r>
            <a:endParaRPr lang="en-US" sz="1600">
              <a:latin typeface="Aptos"/>
            </a:endParaRPr>
          </a:p>
        </p:txBody>
      </p:sp>
    </p:spTree>
    <p:extLst>
      <p:ext uri="{BB962C8B-B14F-4D97-AF65-F5344CB8AC3E}">
        <p14:creationId xmlns:p14="http://schemas.microsoft.com/office/powerpoint/2010/main" val="3013009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a:extLst>
            <a:ext uri="{FF2B5EF4-FFF2-40B4-BE49-F238E27FC236}">
              <a16:creationId xmlns:a16="http://schemas.microsoft.com/office/drawing/2014/main" id="{3C5CC6E1-E8CC-7CFA-B407-C9B6535B4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587C3-8A6A-9571-864B-635D2D211C14}"/>
              </a:ext>
            </a:extLst>
          </p:cNvPr>
          <p:cNvSpPr>
            <a:spLocks noGrp="1"/>
          </p:cNvSpPr>
          <p:nvPr>
            <p:ph type="title"/>
          </p:nvPr>
        </p:nvSpPr>
        <p:spPr>
          <a:xfrm>
            <a:off x="511494" y="457879"/>
            <a:ext cx="9238434" cy="655583"/>
          </a:xfrm>
        </p:spPr>
        <p:txBody>
          <a:bodyPr/>
          <a:lstStyle/>
          <a:p>
            <a:r>
              <a:rPr lang="en-US">
                <a:solidFill>
                  <a:srgbClr val="364A57"/>
                </a:solidFill>
                <a:ea typeface="+mj-lt"/>
                <a:cs typeface="+mj-lt"/>
              </a:rPr>
              <a:t>EXECUTIVE DASHBOARD</a:t>
            </a:r>
            <a:endParaRPr lang="en-US">
              <a:solidFill>
                <a:srgbClr val="364A57"/>
              </a:solidFill>
            </a:endParaRPr>
          </a:p>
        </p:txBody>
      </p:sp>
      <p:sp>
        <p:nvSpPr>
          <p:cNvPr id="4" name="Date Placeholder 3">
            <a:extLst>
              <a:ext uri="{FF2B5EF4-FFF2-40B4-BE49-F238E27FC236}">
                <a16:creationId xmlns:a16="http://schemas.microsoft.com/office/drawing/2014/main" id="{FC336DAC-C433-B6A3-F930-CB5C0AFE4D4F}"/>
              </a:ext>
            </a:extLst>
          </p:cNvPr>
          <p:cNvSpPr>
            <a:spLocks noGrp="1"/>
          </p:cNvSpPr>
          <p:nvPr>
            <p:ph type="dt" sz="half" idx="10"/>
          </p:nvPr>
        </p:nvSpPr>
        <p:spPr/>
        <p:txBody>
          <a:bodyPr/>
          <a:lstStyle/>
          <a:p>
            <a:fld id="{090D7FD9-9C17-4450-AACD-2F8073370DC0}" type="datetime1">
              <a:t>5/16/2026</a:t>
            </a:fld>
            <a:endParaRPr lang="en-US" dirty="0"/>
          </a:p>
        </p:txBody>
      </p:sp>
      <p:sp>
        <p:nvSpPr>
          <p:cNvPr id="5" name="Footer Placeholder 4">
            <a:extLst>
              <a:ext uri="{FF2B5EF4-FFF2-40B4-BE49-F238E27FC236}">
                <a16:creationId xmlns:a16="http://schemas.microsoft.com/office/drawing/2014/main" id="{35D25C2E-3491-9D6B-C739-0A619842A3BB}"/>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A981615B-0429-3E64-F390-409AE717CDCD}"/>
              </a:ext>
            </a:extLst>
          </p:cNvPr>
          <p:cNvSpPr>
            <a:spLocks noGrp="1"/>
          </p:cNvSpPr>
          <p:nvPr>
            <p:ph type="sldNum" sz="quarter" idx="12"/>
          </p:nvPr>
        </p:nvSpPr>
        <p:spPr/>
        <p:txBody>
          <a:bodyPr/>
          <a:lstStyle/>
          <a:p>
            <a:fld id="{196A61CA-0502-4EE4-9724-96EA822543E5}" type="slidenum">
              <a:rPr lang="en-US" dirty="0"/>
              <a:t>6</a:t>
            </a:fld>
            <a:endParaRPr lang="en-US" dirty="0"/>
          </a:p>
        </p:txBody>
      </p:sp>
      <p:pic>
        <p:nvPicPr>
          <p:cNvPr id="3" name="Content Placeholder 2" descr="A screenshot of a computer&#10;&#10;AI-generated content may be incorrect.">
            <a:extLst>
              <a:ext uri="{FF2B5EF4-FFF2-40B4-BE49-F238E27FC236}">
                <a16:creationId xmlns:a16="http://schemas.microsoft.com/office/drawing/2014/main" id="{34D70125-2740-E217-A54E-CAC65F5A0426}"/>
              </a:ext>
            </a:extLst>
          </p:cNvPr>
          <p:cNvPicPr>
            <a:picLocks noGrp="1" noChangeAspect="1"/>
          </p:cNvPicPr>
          <p:nvPr>
            <p:ph idx="1"/>
          </p:nvPr>
        </p:nvPicPr>
        <p:blipFill>
          <a:blip r:embed="rId3"/>
          <a:stretch>
            <a:fillRect/>
          </a:stretch>
        </p:blipFill>
        <p:spPr>
          <a:xfrm>
            <a:off x="5631552" y="1165952"/>
            <a:ext cx="5865497" cy="3635568"/>
          </a:xfrm>
          <a:prstGeom prst="rect">
            <a:avLst/>
          </a:prstGeom>
        </p:spPr>
      </p:pic>
      <p:sp>
        <p:nvSpPr>
          <p:cNvPr id="7" name="TextBox 6">
            <a:extLst>
              <a:ext uri="{FF2B5EF4-FFF2-40B4-BE49-F238E27FC236}">
                <a16:creationId xmlns:a16="http://schemas.microsoft.com/office/drawing/2014/main" id="{D7AAF9D7-8EB3-2600-2A8C-918F01C4361F}"/>
              </a:ext>
            </a:extLst>
          </p:cNvPr>
          <p:cNvSpPr txBox="1"/>
          <p:nvPr/>
        </p:nvSpPr>
        <p:spPr>
          <a:xfrm>
            <a:off x="606305" y="1169095"/>
            <a:ext cx="5024622"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364A57"/>
                </a:solidFill>
                <a:latin typeface="Aptos"/>
                <a:ea typeface="+mn-lt"/>
                <a:cs typeface="+mn-lt"/>
              </a:rPr>
              <a:t>The Executive Dashboard provides a consolidated view </a:t>
            </a:r>
            <a:endParaRPr lang="en-US" sz="1600">
              <a:solidFill>
                <a:srgbClr val="364A57"/>
              </a:solidFill>
              <a:latin typeface="Aptos"/>
              <a:ea typeface="+mn-lt"/>
              <a:cs typeface="+mn-lt"/>
            </a:endParaRPr>
          </a:p>
          <a:p>
            <a:r>
              <a:rPr lang="en-US" sz="1600" dirty="0">
                <a:solidFill>
                  <a:srgbClr val="364A57"/>
                </a:solidFill>
                <a:latin typeface="Aptos"/>
                <a:ea typeface="+mn-lt"/>
                <a:cs typeface="+mn-lt"/>
              </a:rPr>
              <a:t>of rental business performance through interactive </a:t>
            </a:r>
            <a:r>
              <a:rPr lang="en-US" sz="1600">
                <a:solidFill>
                  <a:srgbClr val="364A57"/>
                </a:solidFill>
                <a:latin typeface="Aptos"/>
                <a:ea typeface="+mn-lt"/>
                <a:cs typeface="+mn-lt"/>
              </a:rPr>
              <a:t>KPIs, revenue</a:t>
            </a:r>
            <a:r>
              <a:rPr lang="en-US" sz="1600" dirty="0">
                <a:solidFill>
                  <a:srgbClr val="364A57"/>
                </a:solidFill>
                <a:latin typeface="Aptos"/>
                <a:ea typeface="+mn-lt"/>
                <a:cs typeface="+mn-lt"/>
              </a:rPr>
              <a:t> trends, customer insights, payment </a:t>
            </a:r>
            <a:r>
              <a:rPr lang="en-US" sz="1600">
                <a:solidFill>
                  <a:srgbClr val="364A57"/>
                </a:solidFill>
                <a:latin typeface="Aptos"/>
                <a:ea typeface="+mn-lt"/>
                <a:cs typeface="+mn-lt"/>
              </a:rPr>
              <a:t>analysis, and geographic revenue distribution.</a:t>
            </a:r>
            <a:endParaRPr lang="en-US" sz="1600">
              <a:solidFill>
                <a:srgbClr val="364A57"/>
              </a:solidFill>
              <a:latin typeface="Aptos"/>
            </a:endParaRPr>
          </a:p>
          <a:p>
            <a:pPr algn="l"/>
            <a:endParaRPr lang="en-US" dirty="0"/>
          </a:p>
        </p:txBody>
      </p:sp>
      <p:sp>
        <p:nvSpPr>
          <p:cNvPr id="8" name="TextBox 7">
            <a:extLst>
              <a:ext uri="{FF2B5EF4-FFF2-40B4-BE49-F238E27FC236}">
                <a16:creationId xmlns:a16="http://schemas.microsoft.com/office/drawing/2014/main" id="{4FD305F6-F7E9-A701-5385-E0C67849FE3A}"/>
              </a:ext>
            </a:extLst>
          </p:cNvPr>
          <p:cNvSpPr txBox="1"/>
          <p:nvPr/>
        </p:nvSpPr>
        <p:spPr>
          <a:xfrm>
            <a:off x="607563" y="2608834"/>
            <a:ext cx="436323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364A57"/>
                </a:solidFill>
                <a:ea typeface="+mn-lt"/>
                <a:cs typeface="+mn-lt"/>
              </a:rPr>
              <a:t>Key Features</a:t>
            </a:r>
            <a:endParaRPr lang="en-US" b="1">
              <a:solidFill>
                <a:srgbClr val="364A57"/>
              </a:solidFill>
            </a:endParaRPr>
          </a:p>
        </p:txBody>
      </p:sp>
      <p:sp>
        <p:nvSpPr>
          <p:cNvPr id="10" name="TextBox 9">
            <a:extLst>
              <a:ext uri="{FF2B5EF4-FFF2-40B4-BE49-F238E27FC236}">
                <a16:creationId xmlns:a16="http://schemas.microsoft.com/office/drawing/2014/main" id="{0C3962A5-24A4-5E83-87A4-9E129070B71D}"/>
              </a:ext>
            </a:extLst>
          </p:cNvPr>
          <p:cNvSpPr txBox="1"/>
          <p:nvPr/>
        </p:nvSpPr>
        <p:spPr>
          <a:xfrm>
            <a:off x="517012" y="3128992"/>
            <a:ext cx="4603315"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64A57"/>
                </a:solidFill>
                <a:latin typeface="Aptos"/>
                <a:ea typeface="+mn-lt"/>
                <a:cs typeface="+mn-lt"/>
              </a:rPr>
              <a:t> • Interactive slicers and page navigation</a:t>
            </a:r>
            <a:br>
              <a:rPr lang="en-US" sz="1600" dirty="0">
                <a:latin typeface="Aptos"/>
                <a:ea typeface="+mn-lt"/>
                <a:cs typeface="+mn-lt"/>
              </a:rPr>
            </a:br>
            <a:r>
              <a:rPr lang="en-US" sz="1600">
                <a:solidFill>
                  <a:srgbClr val="364A57"/>
                </a:solidFill>
                <a:latin typeface="Aptos"/>
                <a:ea typeface="+mn-lt"/>
                <a:cs typeface="+mn-lt"/>
              </a:rPr>
              <a:t> • Dynamic KPI tracking using DAX measures</a:t>
            </a:r>
            <a:br>
              <a:rPr lang="en-US" sz="1600" dirty="0">
                <a:latin typeface="Aptos"/>
                <a:ea typeface="+mn-lt"/>
                <a:cs typeface="+mn-lt"/>
              </a:rPr>
            </a:br>
            <a:r>
              <a:rPr lang="en-US" sz="1600">
                <a:solidFill>
                  <a:srgbClr val="364A57"/>
                </a:solidFill>
                <a:latin typeface="Aptos"/>
                <a:ea typeface="+mn-lt"/>
                <a:cs typeface="+mn-lt"/>
              </a:rPr>
              <a:t> • Revenue and customer trend analysis</a:t>
            </a:r>
            <a:br>
              <a:rPr lang="en-US" sz="1600" dirty="0">
                <a:latin typeface="Aptos"/>
                <a:ea typeface="+mn-lt"/>
                <a:cs typeface="+mn-lt"/>
              </a:rPr>
            </a:br>
            <a:r>
              <a:rPr lang="en-US" sz="1600">
                <a:solidFill>
                  <a:srgbClr val="364A57"/>
                </a:solidFill>
                <a:latin typeface="Aptos"/>
                <a:ea typeface="+mn-lt"/>
                <a:cs typeface="+mn-lt"/>
              </a:rPr>
              <a:t> • Geographic and category-based insights</a:t>
            </a:r>
            <a:br>
              <a:rPr lang="en-US" sz="1600" dirty="0">
                <a:latin typeface="Aptos"/>
                <a:ea typeface="+mn-lt"/>
                <a:cs typeface="+mn-lt"/>
              </a:rPr>
            </a:br>
            <a:r>
              <a:rPr lang="en-US" sz="1600">
                <a:solidFill>
                  <a:srgbClr val="364A57"/>
                </a:solidFill>
                <a:latin typeface="Aptos"/>
                <a:ea typeface="+mn-lt"/>
                <a:cs typeface="+mn-lt"/>
              </a:rPr>
              <a:t> • User-friendly executive reporting interface</a:t>
            </a:r>
            <a:endParaRPr lang="en-US" sz="1600">
              <a:solidFill>
                <a:srgbClr val="364A57"/>
              </a:solidFill>
              <a:latin typeface="Aptos"/>
            </a:endParaRPr>
          </a:p>
        </p:txBody>
      </p:sp>
      <p:sp>
        <p:nvSpPr>
          <p:cNvPr id="11" name="TextBox 10">
            <a:extLst>
              <a:ext uri="{FF2B5EF4-FFF2-40B4-BE49-F238E27FC236}">
                <a16:creationId xmlns:a16="http://schemas.microsoft.com/office/drawing/2014/main" id="{0956EFA0-FE54-1921-511C-566938306671}"/>
              </a:ext>
            </a:extLst>
          </p:cNvPr>
          <p:cNvSpPr txBox="1"/>
          <p:nvPr/>
        </p:nvSpPr>
        <p:spPr>
          <a:xfrm>
            <a:off x="607940" y="4813088"/>
            <a:ext cx="34864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364A57"/>
                </a:solidFill>
                <a:ea typeface="+mn-lt"/>
                <a:cs typeface="+mn-lt"/>
              </a:rPr>
              <a:t>Business Value</a:t>
            </a:r>
            <a:endParaRPr lang="en-US" b="1">
              <a:solidFill>
                <a:srgbClr val="364A57"/>
              </a:solidFill>
            </a:endParaRPr>
          </a:p>
        </p:txBody>
      </p:sp>
      <p:sp>
        <p:nvSpPr>
          <p:cNvPr id="12" name="TextBox 11">
            <a:extLst>
              <a:ext uri="{FF2B5EF4-FFF2-40B4-BE49-F238E27FC236}">
                <a16:creationId xmlns:a16="http://schemas.microsoft.com/office/drawing/2014/main" id="{0A95AE7D-2CC5-6757-1738-51CC3C6D5CC6}"/>
              </a:ext>
            </a:extLst>
          </p:cNvPr>
          <p:cNvSpPr txBox="1"/>
          <p:nvPr/>
        </p:nvSpPr>
        <p:spPr>
          <a:xfrm>
            <a:off x="610454" y="5180568"/>
            <a:ext cx="1065756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64A57"/>
                </a:solidFill>
                <a:latin typeface="Aptos"/>
                <a:ea typeface="+mn-lt"/>
                <a:cs typeface="+mn-lt"/>
              </a:rPr>
              <a:t>The dashboard enables quick decision-making by transforming raw rental data into meaningful business insights through interactive visual reporting.</a:t>
            </a:r>
            <a:endParaRPr lang="en-US" sz="1600">
              <a:solidFill>
                <a:srgbClr val="364A57"/>
              </a:solidFill>
              <a:latin typeface="Aptos"/>
            </a:endParaRPr>
          </a:p>
        </p:txBody>
      </p:sp>
    </p:spTree>
    <p:extLst>
      <p:ext uri="{BB962C8B-B14F-4D97-AF65-F5344CB8AC3E}">
        <p14:creationId xmlns:p14="http://schemas.microsoft.com/office/powerpoint/2010/main" val="1459968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a:extLst>
            <a:ext uri="{FF2B5EF4-FFF2-40B4-BE49-F238E27FC236}">
              <a16:creationId xmlns:a16="http://schemas.microsoft.com/office/drawing/2014/main" id="{8E12E0D3-FD42-18BC-CC6C-BD7383441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7101F5-2C24-99CE-C030-268F43947602}"/>
              </a:ext>
            </a:extLst>
          </p:cNvPr>
          <p:cNvSpPr>
            <a:spLocks noGrp="1"/>
          </p:cNvSpPr>
          <p:nvPr>
            <p:ph type="title"/>
          </p:nvPr>
        </p:nvSpPr>
        <p:spPr>
          <a:xfrm>
            <a:off x="640024" y="926095"/>
            <a:ext cx="9238434" cy="655583"/>
          </a:xfrm>
        </p:spPr>
        <p:txBody>
          <a:bodyPr/>
          <a:lstStyle/>
          <a:p>
            <a:r>
              <a:rPr lang="en-US"/>
              <a:t>CUSTOMER &amp; SALES ANALYSIS</a:t>
            </a:r>
          </a:p>
          <a:p>
            <a:endParaRPr lang="en-US" dirty="0">
              <a:solidFill>
                <a:srgbClr val="364A57"/>
              </a:solidFill>
            </a:endParaRPr>
          </a:p>
        </p:txBody>
      </p:sp>
      <p:sp>
        <p:nvSpPr>
          <p:cNvPr id="4" name="Date Placeholder 3">
            <a:extLst>
              <a:ext uri="{FF2B5EF4-FFF2-40B4-BE49-F238E27FC236}">
                <a16:creationId xmlns:a16="http://schemas.microsoft.com/office/drawing/2014/main" id="{87C40FAE-74D0-D9BC-15F9-60D24E6AA76D}"/>
              </a:ext>
            </a:extLst>
          </p:cNvPr>
          <p:cNvSpPr>
            <a:spLocks noGrp="1"/>
          </p:cNvSpPr>
          <p:nvPr>
            <p:ph type="dt" sz="half" idx="10"/>
          </p:nvPr>
        </p:nvSpPr>
        <p:spPr/>
        <p:txBody>
          <a:bodyPr/>
          <a:lstStyle/>
          <a:p>
            <a:fld id="{090D7FD9-9C17-4450-AACD-2F8073370DC0}" type="datetime1">
              <a:t>5/16/2026</a:t>
            </a:fld>
            <a:endParaRPr lang="en-US" dirty="0"/>
          </a:p>
        </p:txBody>
      </p:sp>
      <p:sp>
        <p:nvSpPr>
          <p:cNvPr id="5" name="Footer Placeholder 4">
            <a:extLst>
              <a:ext uri="{FF2B5EF4-FFF2-40B4-BE49-F238E27FC236}">
                <a16:creationId xmlns:a16="http://schemas.microsoft.com/office/drawing/2014/main" id="{03A42B31-64E8-0C17-4A04-E185615CDEB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0AC0DC3-1792-EF76-30BD-970345CA4819}"/>
              </a:ext>
            </a:extLst>
          </p:cNvPr>
          <p:cNvSpPr>
            <a:spLocks noGrp="1"/>
          </p:cNvSpPr>
          <p:nvPr>
            <p:ph type="sldNum" sz="quarter" idx="12"/>
          </p:nvPr>
        </p:nvSpPr>
        <p:spPr/>
        <p:txBody>
          <a:bodyPr/>
          <a:lstStyle/>
          <a:p>
            <a:fld id="{196A61CA-0502-4EE4-9724-96EA822543E5}" type="slidenum">
              <a:rPr lang="en-US" dirty="0"/>
              <a:t>7</a:t>
            </a:fld>
            <a:endParaRPr lang="en-US" dirty="0"/>
          </a:p>
        </p:txBody>
      </p:sp>
      <p:pic>
        <p:nvPicPr>
          <p:cNvPr id="3" name="Content Placeholder 2" descr="A screenshot of a graph&#10;&#10;AI-generated content may be incorrect.">
            <a:extLst>
              <a:ext uri="{FF2B5EF4-FFF2-40B4-BE49-F238E27FC236}">
                <a16:creationId xmlns:a16="http://schemas.microsoft.com/office/drawing/2014/main" id="{D3739B8D-85BF-3A65-7840-82B1E8481A24}"/>
              </a:ext>
            </a:extLst>
          </p:cNvPr>
          <p:cNvPicPr>
            <a:picLocks noGrp="1" noChangeAspect="1"/>
          </p:cNvPicPr>
          <p:nvPr>
            <p:ph idx="1"/>
          </p:nvPr>
        </p:nvPicPr>
        <p:blipFill>
          <a:blip r:embed="rId3"/>
          <a:stretch>
            <a:fillRect/>
          </a:stretch>
        </p:blipFill>
        <p:spPr>
          <a:xfrm>
            <a:off x="5760081" y="1721606"/>
            <a:ext cx="5727787" cy="3378068"/>
          </a:xfrm>
          <a:prstGeom prst="rect">
            <a:avLst/>
          </a:prstGeom>
        </p:spPr>
      </p:pic>
      <p:sp>
        <p:nvSpPr>
          <p:cNvPr id="7" name="TextBox 6">
            <a:extLst>
              <a:ext uri="{FF2B5EF4-FFF2-40B4-BE49-F238E27FC236}">
                <a16:creationId xmlns:a16="http://schemas.microsoft.com/office/drawing/2014/main" id="{A73A560E-51BB-0206-8782-DB7499AF4297}"/>
              </a:ext>
            </a:extLst>
          </p:cNvPr>
          <p:cNvSpPr txBox="1"/>
          <p:nvPr/>
        </p:nvSpPr>
        <p:spPr>
          <a:xfrm>
            <a:off x="643028" y="1159914"/>
            <a:ext cx="1031271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latin typeface="Aptos"/>
                <a:ea typeface="+mn-lt"/>
                <a:cs typeface="+mn-lt"/>
              </a:rPr>
              <a:t>This section analyzes customer behavior, sales contribution, payment preferences, and customer rating trends to understand overall rental business performance.</a:t>
            </a:r>
            <a:endParaRPr lang="en-US" sz="1500">
              <a:latin typeface="Aptos"/>
            </a:endParaRPr>
          </a:p>
          <a:p>
            <a:pPr algn="l"/>
            <a:endParaRPr lang="en-US" dirty="0"/>
          </a:p>
        </p:txBody>
      </p:sp>
      <p:sp>
        <p:nvSpPr>
          <p:cNvPr id="8" name="TextBox 7">
            <a:extLst>
              <a:ext uri="{FF2B5EF4-FFF2-40B4-BE49-F238E27FC236}">
                <a16:creationId xmlns:a16="http://schemas.microsoft.com/office/drawing/2014/main" id="{96D28CB8-7C68-194D-46AC-56E55E7284AC}"/>
              </a:ext>
            </a:extLst>
          </p:cNvPr>
          <p:cNvSpPr txBox="1"/>
          <p:nvPr/>
        </p:nvSpPr>
        <p:spPr>
          <a:xfrm>
            <a:off x="644286" y="1800931"/>
            <a:ext cx="436323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Key Areas Analyzed</a:t>
            </a:r>
          </a:p>
          <a:p>
            <a:endParaRPr lang="en-US" b="1" dirty="0">
              <a:solidFill>
                <a:srgbClr val="364A57"/>
              </a:solidFill>
            </a:endParaRPr>
          </a:p>
        </p:txBody>
      </p:sp>
      <p:sp>
        <p:nvSpPr>
          <p:cNvPr id="10" name="TextBox 9">
            <a:extLst>
              <a:ext uri="{FF2B5EF4-FFF2-40B4-BE49-F238E27FC236}">
                <a16:creationId xmlns:a16="http://schemas.microsoft.com/office/drawing/2014/main" id="{DF0219CF-F3F5-B072-0976-01D4A8876145}"/>
              </a:ext>
            </a:extLst>
          </p:cNvPr>
          <p:cNvSpPr txBox="1"/>
          <p:nvPr/>
        </p:nvSpPr>
        <p:spPr>
          <a:xfrm>
            <a:off x="599638" y="2183378"/>
            <a:ext cx="4603315" cy="12464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latin typeface="Aptos"/>
                <a:ea typeface="+mn-lt"/>
                <a:cs typeface="+mn-lt"/>
              </a:rPr>
              <a:t> • Sales distribution by payment method</a:t>
            </a:r>
            <a:br>
              <a:rPr lang="en-US" sz="1500" dirty="0">
                <a:latin typeface="Aptos"/>
                <a:ea typeface="+mn-lt"/>
                <a:cs typeface="+mn-lt"/>
              </a:rPr>
            </a:br>
            <a:r>
              <a:rPr lang="en-US" sz="1500">
                <a:latin typeface="Aptos"/>
                <a:ea typeface="+mn-lt"/>
                <a:cs typeface="+mn-lt"/>
              </a:rPr>
              <a:t> • Monthly revenue trends</a:t>
            </a:r>
            <a:br>
              <a:rPr lang="en-US" sz="1500" dirty="0">
                <a:latin typeface="Aptos"/>
                <a:ea typeface="+mn-lt"/>
                <a:cs typeface="+mn-lt"/>
              </a:rPr>
            </a:br>
            <a:r>
              <a:rPr lang="en-US" sz="1500">
                <a:latin typeface="Aptos"/>
                <a:ea typeface="+mn-lt"/>
                <a:cs typeface="+mn-lt"/>
              </a:rPr>
              <a:t> • Customer segmentation analysis</a:t>
            </a:r>
            <a:br>
              <a:rPr lang="en-US" sz="1500" dirty="0">
                <a:latin typeface="Aptos"/>
                <a:ea typeface="+mn-lt"/>
                <a:cs typeface="+mn-lt"/>
              </a:rPr>
            </a:br>
            <a:r>
              <a:rPr lang="en-US" sz="1500">
                <a:latin typeface="Aptos"/>
                <a:ea typeface="+mn-lt"/>
                <a:cs typeface="+mn-lt"/>
              </a:rPr>
              <a:t> • Customer ratings by location</a:t>
            </a:r>
            <a:br>
              <a:rPr lang="en-US" sz="1500" dirty="0">
                <a:latin typeface="Aptos"/>
                <a:ea typeface="+mn-lt"/>
                <a:cs typeface="+mn-lt"/>
              </a:rPr>
            </a:br>
            <a:r>
              <a:rPr lang="en-US" sz="1500">
                <a:latin typeface="Aptos"/>
                <a:ea typeface="+mn-lt"/>
                <a:cs typeface="+mn-lt"/>
              </a:rPr>
              <a:t> • Customer distribution across cities</a:t>
            </a:r>
            <a:endParaRPr lang="en-US" sz="1500">
              <a:latin typeface="Aptos"/>
            </a:endParaRPr>
          </a:p>
        </p:txBody>
      </p:sp>
      <p:sp>
        <p:nvSpPr>
          <p:cNvPr id="11" name="TextBox 10">
            <a:extLst>
              <a:ext uri="{FF2B5EF4-FFF2-40B4-BE49-F238E27FC236}">
                <a16:creationId xmlns:a16="http://schemas.microsoft.com/office/drawing/2014/main" id="{BE18517E-82A3-9F0A-E384-3F82A6CD3FBD}"/>
              </a:ext>
            </a:extLst>
          </p:cNvPr>
          <p:cNvSpPr txBox="1"/>
          <p:nvPr/>
        </p:nvSpPr>
        <p:spPr>
          <a:xfrm>
            <a:off x="635482" y="5198679"/>
            <a:ext cx="34864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Business Value</a:t>
            </a:r>
            <a:endParaRPr lang="en-US" b="1"/>
          </a:p>
        </p:txBody>
      </p:sp>
      <p:sp>
        <p:nvSpPr>
          <p:cNvPr id="12" name="TextBox 11">
            <a:extLst>
              <a:ext uri="{FF2B5EF4-FFF2-40B4-BE49-F238E27FC236}">
                <a16:creationId xmlns:a16="http://schemas.microsoft.com/office/drawing/2014/main" id="{34DA331A-CF30-0D20-03AA-FCC1CD93FB04}"/>
              </a:ext>
            </a:extLst>
          </p:cNvPr>
          <p:cNvSpPr txBox="1"/>
          <p:nvPr/>
        </p:nvSpPr>
        <p:spPr>
          <a:xfrm>
            <a:off x="637996" y="5566158"/>
            <a:ext cx="1065756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latin typeface="Aptos"/>
                <a:ea typeface="+mn-lt"/>
                <a:cs typeface="+mn-lt"/>
              </a:rPr>
              <a:t>Customer and sales analysis helps identify purchasing behavior, revenue-driving customer segments, and payment trends for better business decision-making.</a:t>
            </a:r>
            <a:endParaRPr lang="en-US" sz="1500">
              <a:latin typeface="Aptos"/>
            </a:endParaRPr>
          </a:p>
        </p:txBody>
      </p:sp>
      <p:sp>
        <p:nvSpPr>
          <p:cNvPr id="9" name="TextBox 8">
            <a:extLst>
              <a:ext uri="{FF2B5EF4-FFF2-40B4-BE49-F238E27FC236}">
                <a16:creationId xmlns:a16="http://schemas.microsoft.com/office/drawing/2014/main" id="{49F6EEFB-79B4-B4AB-3250-710B6B0E12E1}"/>
              </a:ext>
            </a:extLst>
          </p:cNvPr>
          <p:cNvSpPr txBox="1"/>
          <p:nvPr/>
        </p:nvSpPr>
        <p:spPr>
          <a:xfrm>
            <a:off x="640135" y="3655310"/>
            <a:ext cx="29958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Key Insights</a:t>
            </a:r>
            <a:endParaRPr lang="en-US" b="1"/>
          </a:p>
        </p:txBody>
      </p:sp>
      <p:sp>
        <p:nvSpPr>
          <p:cNvPr id="13" name="TextBox 12">
            <a:extLst>
              <a:ext uri="{FF2B5EF4-FFF2-40B4-BE49-F238E27FC236}">
                <a16:creationId xmlns:a16="http://schemas.microsoft.com/office/drawing/2014/main" id="{A96E92ED-3EE0-DE7D-D751-9EA5D9529703}"/>
              </a:ext>
            </a:extLst>
          </p:cNvPr>
          <p:cNvSpPr txBox="1"/>
          <p:nvPr/>
        </p:nvSpPr>
        <p:spPr>
          <a:xfrm>
            <a:off x="609700" y="4084667"/>
            <a:ext cx="5863588"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latin typeface="Aptos"/>
                <a:ea typeface="+mn-lt"/>
                <a:cs typeface="+mn-lt"/>
              </a:rPr>
              <a:t> • Online payments generated the highest share of revenue</a:t>
            </a:r>
            <a:br>
              <a:rPr lang="en-US" sz="1500" dirty="0">
                <a:latin typeface="Aptos"/>
                <a:ea typeface="+mn-lt"/>
                <a:cs typeface="+mn-lt"/>
              </a:rPr>
            </a:br>
            <a:r>
              <a:rPr lang="en-US" sz="1500" dirty="0">
                <a:latin typeface="Aptos"/>
                <a:ea typeface="+mn-lt"/>
                <a:cs typeface="+mn-lt"/>
              </a:rPr>
              <a:t> • Active customers contributed the majority of total sales</a:t>
            </a:r>
            <a:br>
              <a:rPr lang="en-US" sz="1500" dirty="0">
                <a:latin typeface="Aptos"/>
                <a:ea typeface="+mn-lt"/>
                <a:cs typeface="+mn-lt"/>
              </a:rPr>
            </a:br>
            <a:r>
              <a:rPr lang="en-US" sz="1500" dirty="0">
                <a:latin typeface="Aptos"/>
                <a:ea typeface="+mn-lt"/>
                <a:cs typeface="+mn-lt"/>
              </a:rPr>
              <a:t> • Revenue showed strong growth during peak months</a:t>
            </a:r>
            <a:br>
              <a:rPr lang="en-US" sz="1500" dirty="0">
                <a:latin typeface="Aptos"/>
                <a:ea typeface="+mn-lt"/>
                <a:cs typeface="+mn-lt"/>
              </a:rPr>
            </a:br>
            <a:r>
              <a:rPr lang="en-US" sz="1500" dirty="0">
                <a:latin typeface="Aptos"/>
                <a:ea typeface="+mn-lt"/>
                <a:cs typeface="+mn-lt"/>
              </a:rPr>
              <a:t> • Customer ratings remained stable across most locations</a:t>
            </a:r>
            <a:endParaRPr lang="en-US" sz="1500">
              <a:latin typeface="Aptos"/>
            </a:endParaRPr>
          </a:p>
          <a:p>
            <a:pPr algn="l"/>
            <a:endParaRPr lang="en-US" dirty="0"/>
          </a:p>
        </p:txBody>
      </p:sp>
    </p:spTree>
    <p:extLst>
      <p:ext uri="{BB962C8B-B14F-4D97-AF65-F5344CB8AC3E}">
        <p14:creationId xmlns:p14="http://schemas.microsoft.com/office/powerpoint/2010/main" val="2513702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a:extLst>
            <a:ext uri="{FF2B5EF4-FFF2-40B4-BE49-F238E27FC236}">
              <a16:creationId xmlns:a16="http://schemas.microsoft.com/office/drawing/2014/main" id="{8E6D0D1B-06CA-7F53-7D73-4AC59C929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651B33-55F4-3E2B-6E4E-402E42862EFA}"/>
              </a:ext>
            </a:extLst>
          </p:cNvPr>
          <p:cNvSpPr>
            <a:spLocks noGrp="1"/>
          </p:cNvSpPr>
          <p:nvPr>
            <p:ph type="title"/>
          </p:nvPr>
        </p:nvSpPr>
        <p:spPr>
          <a:xfrm>
            <a:off x="640024" y="926095"/>
            <a:ext cx="9238434" cy="655583"/>
          </a:xfrm>
        </p:spPr>
        <p:txBody>
          <a:bodyPr/>
          <a:lstStyle/>
          <a:p>
            <a:r>
              <a:rPr lang="en-US">
                <a:ea typeface="+mj-lt"/>
                <a:cs typeface="+mj-lt"/>
              </a:rPr>
              <a:t>FILM &amp; INVENTORY ANALYSIS</a:t>
            </a:r>
            <a:endParaRPr lang="en-US"/>
          </a:p>
          <a:p>
            <a:endParaRPr lang="en-US" dirty="0">
              <a:solidFill>
                <a:srgbClr val="364A57"/>
              </a:solidFill>
            </a:endParaRPr>
          </a:p>
        </p:txBody>
      </p:sp>
      <p:sp>
        <p:nvSpPr>
          <p:cNvPr id="4" name="Date Placeholder 3">
            <a:extLst>
              <a:ext uri="{FF2B5EF4-FFF2-40B4-BE49-F238E27FC236}">
                <a16:creationId xmlns:a16="http://schemas.microsoft.com/office/drawing/2014/main" id="{EB5975AE-82C4-9CAA-FDDD-F6E0B512D435}"/>
              </a:ext>
            </a:extLst>
          </p:cNvPr>
          <p:cNvSpPr>
            <a:spLocks noGrp="1"/>
          </p:cNvSpPr>
          <p:nvPr>
            <p:ph type="dt" sz="half" idx="10"/>
          </p:nvPr>
        </p:nvSpPr>
        <p:spPr/>
        <p:txBody>
          <a:bodyPr/>
          <a:lstStyle/>
          <a:p>
            <a:fld id="{090D7FD9-9C17-4450-AACD-2F8073370DC0}" type="datetime1">
              <a:t>5/16/2026</a:t>
            </a:fld>
            <a:endParaRPr lang="en-US" dirty="0"/>
          </a:p>
        </p:txBody>
      </p:sp>
      <p:sp>
        <p:nvSpPr>
          <p:cNvPr id="5" name="Footer Placeholder 4">
            <a:extLst>
              <a:ext uri="{FF2B5EF4-FFF2-40B4-BE49-F238E27FC236}">
                <a16:creationId xmlns:a16="http://schemas.microsoft.com/office/drawing/2014/main" id="{9A972ADB-065C-9290-F6BF-4147576701C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269B48F-FE63-656F-4053-A671E3CC798D}"/>
              </a:ext>
            </a:extLst>
          </p:cNvPr>
          <p:cNvSpPr>
            <a:spLocks noGrp="1"/>
          </p:cNvSpPr>
          <p:nvPr>
            <p:ph type="sldNum" sz="quarter" idx="12"/>
          </p:nvPr>
        </p:nvSpPr>
        <p:spPr/>
        <p:txBody>
          <a:bodyPr/>
          <a:lstStyle/>
          <a:p>
            <a:fld id="{196A61CA-0502-4EE4-9724-96EA822543E5}" type="slidenum">
              <a:rPr lang="en-US" dirty="0"/>
              <a:t>8</a:t>
            </a:fld>
            <a:endParaRPr lang="en-US" dirty="0"/>
          </a:p>
        </p:txBody>
      </p:sp>
      <p:pic>
        <p:nvPicPr>
          <p:cNvPr id="3" name="Content Placeholder 2" descr="A screenshot of a computer&#10;&#10;AI-generated content may be incorrect.">
            <a:extLst>
              <a:ext uri="{FF2B5EF4-FFF2-40B4-BE49-F238E27FC236}">
                <a16:creationId xmlns:a16="http://schemas.microsoft.com/office/drawing/2014/main" id="{8BA3B652-A115-A33A-ABBC-3EEA8EA9E206}"/>
              </a:ext>
            </a:extLst>
          </p:cNvPr>
          <p:cNvPicPr>
            <a:picLocks noGrp="1" noChangeAspect="1"/>
          </p:cNvPicPr>
          <p:nvPr>
            <p:ph idx="1"/>
          </p:nvPr>
        </p:nvPicPr>
        <p:blipFill>
          <a:blip r:embed="rId3"/>
          <a:stretch>
            <a:fillRect/>
          </a:stretch>
        </p:blipFill>
        <p:spPr>
          <a:xfrm>
            <a:off x="5760081" y="1808177"/>
            <a:ext cx="5727787" cy="3204925"/>
          </a:xfrm>
          <a:prstGeom prst="rect">
            <a:avLst/>
          </a:prstGeom>
        </p:spPr>
      </p:pic>
      <p:sp>
        <p:nvSpPr>
          <p:cNvPr id="7" name="TextBox 6">
            <a:extLst>
              <a:ext uri="{FF2B5EF4-FFF2-40B4-BE49-F238E27FC236}">
                <a16:creationId xmlns:a16="http://schemas.microsoft.com/office/drawing/2014/main" id="{2A970DE8-AC5D-073E-544E-6EF57EE61931}"/>
              </a:ext>
            </a:extLst>
          </p:cNvPr>
          <p:cNvSpPr txBox="1"/>
          <p:nvPr/>
        </p:nvSpPr>
        <p:spPr>
          <a:xfrm>
            <a:off x="643028" y="1159914"/>
            <a:ext cx="10312718"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latin typeface="Aptos"/>
                <a:ea typeface="+mn-lt"/>
                <a:cs typeface="+mn-lt"/>
              </a:rPr>
              <a:t>This section analyzes film categories, rental duration, inventory distribution, and film ratings to evaluate inventory performance and rental patterns.</a:t>
            </a:r>
            <a:endParaRPr lang="en-US" sz="1500">
              <a:latin typeface="Aptos"/>
            </a:endParaRPr>
          </a:p>
          <a:p>
            <a:pPr algn="l"/>
            <a:endParaRPr lang="en-US" dirty="0"/>
          </a:p>
        </p:txBody>
      </p:sp>
      <p:sp>
        <p:nvSpPr>
          <p:cNvPr id="8" name="TextBox 7">
            <a:extLst>
              <a:ext uri="{FF2B5EF4-FFF2-40B4-BE49-F238E27FC236}">
                <a16:creationId xmlns:a16="http://schemas.microsoft.com/office/drawing/2014/main" id="{A14FBB7A-897F-C478-E371-D5CF6CC057DD}"/>
              </a:ext>
            </a:extLst>
          </p:cNvPr>
          <p:cNvSpPr txBox="1"/>
          <p:nvPr/>
        </p:nvSpPr>
        <p:spPr>
          <a:xfrm>
            <a:off x="644286" y="1800931"/>
            <a:ext cx="436323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Key Areas Analyzed</a:t>
            </a:r>
          </a:p>
          <a:p>
            <a:endParaRPr lang="en-US" b="1" dirty="0">
              <a:solidFill>
                <a:srgbClr val="364A57"/>
              </a:solidFill>
            </a:endParaRPr>
          </a:p>
        </p:txBody>
      </p:sp>
      <p:sp>
        <p:nvSpPr>
          <p:cNvPr id="10" name="TextBox 9">
            <a:extLst>
              <a:ext uri="{FF2B5EF4-FFF2-40B4-BE49-F238E27FC236}">
                <a16:creationId xmlns:a16="http://schemas.microsoft.com/office/drawing/2014/main" id="{EAEAE7E0-0F99-C8CA-894B-8BE859F00851}"/>
              </a:ext>
            </a:extLst>
          </p:cNvPr>
          <p:cNvSpPr txBox="1"/>
          <p:nvPr/>
        </p:nvSpPr>
        <p:spPr>
          <a:xfrm>
            <a:off x="599638" y="2183378"/>
            <a:ext cx="460331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latin typeface="Aptos"/>
                <a:ea typeface="+mn-lt"/>
                <a:cs typeface="+mn-lt"/>
              </a:rPr>
              <a:t> • Distribution of films by rental duration</a:t>
            </a:r>
            <a:br>
              <a:rPr lang="en-US" sz="1500" dirty="0">
                <a:latin typeface="Aptos"/>
                <a:ea typeface="+mn-lt"/>
                <a:cs typeface="+mn-lt"/>
              </a:rPr>
            </a:br>
            <a:r>
              <a:rPr lang="en-US" sz="1500">
                <a:latin typeface="Aptos"/>
                <a:ea typeface="+mn-lt"/>
                <a:cs typeface="+mn-lt"/>
              </a:rPr>
              <a:t> • Inventory distribution by film rating</a:t>
            </a:r>
            <a:br>
              <a:rPr lang="en-US" sz="1500" dirty="0">
                <a:latin typeface="Aptos"/>
                <a:ea typeface="+mn-lt"/>
                <a:cs typeface="+mn-lt"/>
              </a:rPr>
            </a:br>
            <a:r>
              <a:rPr lang="en-US" sz="1500">
                <a:latin typeface="Aptos"/>
                <a:ea typeface="+mn-lt"/>
                <a:cs typeface="+mn-lt"/>
              </a:rPr>
              <a:t> • Film categories in inventory</a:t>
            </a:r>
            <a:br>
              <a:rPr lang="en-US" sz="1500" dirty="0">
                <a:latin typeface="Aptos"/>
                <a:ea typeface="+mn-lt"/>
                <a:cs typeface="+mn-lt"/>
              </a:rPr>
            </a:br>
            <a:r>
              <a:rPr lang="en-US" sz="1500">
                <a:latin typeface="Aptos"/>
                <a:ea typeface="+mn-lt"/>
                <a:cs typeface="+mn-lt"/>
              </a:rPr>
              <a:t> • Average rental duration by category</a:t>
            </a:r>
            <a:br>
              <a:rPr lang="en-US" sz="1500" dirty="0">
                <a:latin typeface="Aptos"/>
                <a:ea typeface="+mn-lt"/>
                <a:cs typeface="+mn-lt"/>
              </a:rPr>
            </a:br>
            <a:r>
              <a:rPr lang="en-US" sz="1500">
                <a:latin typeface="Aptos"/>
                <a:ea typeface="+mn-lt"/>
                <a:cs typeface="+mn-lt"/>
              </a:rPr>
              <a:t> • Film categories with highest rental rates</a:t>
            </a:r>
            <a:endParaRPr lang="en-US">
              <a:latin typeface="Aptos"/>
            </a:endParaRPr>
          </a:p>
          <a:p>
            <a:endParaRPr lang="en-US" sz="1500" dirty="0">
              <a:latin typeface="Aptos"/>
              <a:ea typeface="+mn-lt"/>
              <a:cs typeface="+mn-lt"/>
            </a:endParaRPr>
          </a:p>
        </p:txBody>
      </p:sp>
      <p:sp>
        <p:nvSpPr>
          <p:cNvPr id="11" name="TextBox 10">
            <a:extLst>
              <a:ext uri="{FF2B5EF4-FFF2-40B4-BE49-F238E27FC236}">
                <a16:creationId xmlns:a16="http://schemas.microsoft.com/office/drawing/2014/main" id="{6F70C075-7443-8019-D272-74C5794DC084}"/>
              </a:ext>
            </a:extLst>
          </p:cNvPr>
          <p:cNvSpPr txBox="1"/>
          <p:nvPr/>
        </p:nvSpPr>
        <p:spPr>
          <a:xfrm>
            <a:off x="635482" y="5198679"/>
            <a:ext cx="34864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Business Value</a:t>
            </a:r>
            <a:endParaRPr lang="en-US" b="1"/>
          </a:p>
        </p:txBody>
      </p:sp>
      <p:sp>
        <p:nvSpPr>
          <p:cNvPr id="12" name="TextBox 11">
            <a:extLst>
              <a:ext uri="{FF2B5EF4-FFF2-40B4-BE49-F238E27FC236}">
                <a16:creationId xmlns:a16="http://schemas.microsoft.com/office/drawing/2014/main" id="{BF574184-B0A8-7064-E2CE-7D517B695B3D}"/>
              </a:ext>
            </a:extLst>
          </p:cNvPr>
          <p:cNvSpPr txBox="1"/>
          <p:nvPr/>
        </p:nvSpPr>
        <p:spPr>
          <a:xfrm>
            <a:off x="637996" y="5566158"/>
            <a:ext cx="10657561"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latin typeface="Aptos"/>
                <a:ea typeface="+mn-lt"/>
                <a:cs typeface="+mn-lt"/>
              </a:rPr>
              <a:t>Film and inventory analysis helps identify high-performing categories, optimize inventory allocation, and improve rental strategy decisions.</a:t>
            </a:r>
            <a:endParaRPr lang="en-US" dirty="0">
              <a:latin typeface="Aptos"/>
            </a:endParaRPr>
          </a:p>
          <a:p>
            <a:endParaRPr lang="en-US" sz="1500" dirty="0">
              <a:latin typeface="Aptos"/>
            </a:endParaRPr>
          </a:p>
        </p:txBody>
      </p:sp>
      <p:sp>
        <p:nvSpPr>
          <p:cNvPr id="9" name="TextBox 8">
            <a:extLst>
              <a:ext uri="{FF2B5EF4-FFF2-40B4-BE49-F238E27FC236}">
                <a16:creationId xmlns:a16="http://schemas.microsoft.com/office/drawing/2014/main" id="{6637BF64-E3BA-2E0B-98DE-AA53FC39CB25}"/>
              </a:ext>
            </a:extLst>
          </p:cNvPr>
          <p:cNvSpPr txBox="1"/>
          <p:nvPr/>
        </p:nvSpPr>
        <p:spPr>
          <a:xfrm>
            <a:off x="640135" y="3655310"/>
            <a:ext cx="29958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Key Insights</a:t>
            </a:r>
            <a:endParaRPr lang="en-US" b="1"/>
          </a:p>
        </p:txBody>
      </p:sp>
      <p:sp>
        <p:nvSpPr>
          <p:cNvPr id="13" name="TextBox 12">
            <a:extLst>
              <a:ext uri="{FF2B5EF4-FFF2-40B4-BE49-F238E27FC236}">
                <a16:creationId xmlns:a16="http://schemas.microsoft.com/office/drawing/2014/main" id="{A7A4D222-F68A-8487-E47A-B08CE82F8943}"/>
              </a:ext>
            </a:extLst>
          </p:cNvPr>
          <p:cNvSpPr txBox="1"/>
          <p:nvPr/>
        </p:nvSpPr>
        <p:spPr>
          <a:xfrm>
            <a:off x="609700" y="4084667"/>
            <a:ext cx="5863588" cy="12464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latin typeface="Aptos"/>
                <a:ea typeface="+mn-lt"/>
                <a:cs typeface="+mn-lt"/>
              </a:rPr>
              <a:t>• Action category showed strong rental performance</a:t>
            </a:r>
            <a:br>
              <a:rPr lang="en-US" sz="1500" dirty="0">
                <a:latin typeface="Aptos"/>
                <a:ea typeface="+mn-lt"/>
                <a:cs typeface="+mn-lt"/>
              </a:rPr>
            </a:br>
            <a:r>
              <a:rPr lang="en-US" sz="1500" dirty="0">
                <a:latin typeface="Aptos"/>
                <a:ea typeface="+mn-lt"/>
                <a:cs typeface="+mn-lt"/>
              </a:rPr>
              <a:t>• Film inventory was distributed across multiple rating groups</a:t>
            </a:r>
            <a:br>
              <a:rPr lang="en-US" sz="1500" dirty="0">
                <a:latin typeface="Aptos"/>
                <a:ea typeface="+mn-lt"/>
                <a:cs typeface="+mn-lt"/>
              </a:rPr>
            </a:br>
            <a:r>
              <a:rPr lang="en-US" sz="1500">
                <a:latin typeface="Aptos"/>
                <a:ea typeface="+mn-lt"/>
                <a:cs typeface="+mn-lt"/>
              </a:rPr>
              <a:t>• Rental duration remained consistent across categories</a:t>
            </a:r>
            <a:br>
              <a:rPr lang="en-US" sz="1500" dirty="0">
                <a:latin typeface="Aptos"/>
                <a:ea typeface="+mn-lt"/>
                <a:cs typeface="+mn-lt"/>
              </a:rPr>
            </a:br>
            <a:r>
              <a:rPr lang="en-US" sz="1500">
                <a:latin typeface="Aptos"/>
                <a:ea typeface="+mn-lt"/>
                <a:cs typeface="+mn-lt"/>
              </a:rPr>
              <a:t>• Inventory distribution supported category diversity</a:t>
            </a:r>
            <a:endParaRPr lang="en-US">
              <a:latin typeface="Aptos"/>
            </a:endParaRPr>
          </a:p>
          <a:p>
            <a:endParaRPr lang="en-US" sz="1500" dirty="0">
              <a:latin typeface="Aptos"/>
            </a:endParaRPr>
          </a:p>
        </p:txBody>
      </p:sp>
    </p:spTree>
    <p:extLst>
      <p:ext uri="{BB962C8B-B14F-4D97-AF65-F5344CB8AC3E}">
        <p14:creationId xmlns:p14="http://schemas.microsoft.com/office/powerpoint/2010/main" val="3278673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65000"/>
            <a:lumOff val="35000"/>
          </a:schemeClr>
        </a:solidFill>
        <a:effectLst/>
      </p:bgPr>
    </p:bg>
    <p:spTree>
      <p:nvGrpSpPr>
        <p:cNvPr id="1" name="">
          <a:extLst>
            <a:ext uri="{FF2B5EF4-FFF2-40B4-BE49-F238E27FC236}">
              <a16:creationId xmlns:a16="http://schemas.microsoft.com/office/drawing/2014/main" id="{38C9A0FA-193C-A5A7-6623-E532AA12F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984F18-A83D-4C60-B72C-F0B93D6E49B8}"/>
              </a:ext>
            </a:extLst>
          </p:cNvPr>
          <p:cNvSpPr>
            <a:spLocks noGrp="1"/>
          </p:cNvSpPr>
          <p:nvPr>
            <p:ph type="title"/>
          </p:nvPr>
        </p:nvSpPr>
        <p:spPr>
          <a:xfrm>
            <a:off x="640024" y="926095"/>
            <a:ext cx="9238434" cy="655583"/>
          </a:xfrm>
        </p:spPr>
        <p:txBody>
          <a:bodyPr/>
          <a:lstStyle/>
          <a:p>
            <a:r>
              <a:rPr lang="en-US">
                <a:ea typeface="+mj-lt"/>
                <a:cs typeface="+mj-lt"/>
              </a:rPr>
              <a:t>STAFF &amp; STORE PERFORMANCE</a:t>
            </a:r>
            <a:endParaRPr lang="en-US"/>
          </a:p>
          <a:p>
            <a:endParaRPr lang="en-US" dirty="0">
              <a:solidFill>
                <a:srgbClr val="364A57"/>
              </a:solidFill>
            </a:endParaRPr>
          </a:p>
        </p:txBody>
      </p:sp>
      <p:sp>
        <p:nvSpPr>
          <p:cNvPr id="4" name="Date Placeholder 3">
            <a:extLst>
              <a:ext uri="{FF2B5EF4-FFF2-40B4-BE49-F238E27FC236}">
                <a16:creationId xmlns:a16="http://schemas.microsoft.com/office/drawing/2014/main" id="{38E9B6DE-9AAD-E2D4-16E4-105EF114D1CD}"/>
              </a:ext>
            </a:extLst>
          </p:cNvPr>
          <p:cNvSpPr>
            <a:spLocks noGrp="1"/>
          </p:cNvSpPr>
          <p:nvPr>
            <p:ph type="dt" sz="half" idx="10"/>
          </p:nvPr>
        </p:nvSpPr>
        <p:spPr/>
        <p:txBody>
          <a:bodyPr/>
          <a:lstStyle/>
          <a:p>
            <a:fld id="{090D7FD9-9C17-4450-AACD-2F8073370DC0}" type="datetime1">
              <a:t>5/16/2026</a:t>
            </a:fld>
            <a:endParaRPr lang="en-US" dirty="0"/>
          </a:p>
        </p:txBody>
      </p:sp>
      <p:sp>
        <p:nvSpPr>
          <p:cNvPr id="5" name="Footer Placeholder 4">
            <a:extLst>
              <a:ext uri="{FF2B5EF4-FFF2-40B4-BE49-F238E27FC236}">
                <a16:creationId xmlns:a16="http://schemas.microsoft.com/office/drawing/2014/main" id="{D32C8D0B-A338-D0C3-BBE8-4D499402B2A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812B5BD-6257-2051-A4BD-2F866A0A73F4}"/>
              </a:ext>
            </a:extLst>
          </p:cNvPr>
          <p:cNvSpPr>
            <a:spLocks noGrp="1"/>
          </p:cNvSpPr>
          <p:nvPr>
            <p:ph type="sldNum" sz="quarter" idx="12"/>
          </p:nvPr>
        </p:nvSpPr>
        <p:spPr/>
        <p:txBody>
          <a:bodyPr/>
          <a:lstStyle/>
          <a:p>
            <a:fld id="{196A61CA-0502-4EE4-9724-96EA822543E5}" type="slidenum">
              <a:rPr lang="en-US" dirty="0"/>
              <a:t>9</a:t>
            </a:fld>
            <a:endParaRPr lang="en-US" dirty="0"/>
          </a:p>
        </p:txBody>
      </p:sp>
      <p:pic>
        <p:nvPicPr>
          <p:cNvPr id="3" name="Content Placeholder 2" descr="A screenshot of a graph&#10;&#10;AI-generated content may be incorrect.">
            <a:extLst>
              <a:ext uri="{FF2B5EF4-FFF2-40B4-BE49-F238E27FC236}">
                <a16:creationId xmlns:a16="http://schemas.microsoft.com/office/drawing/2014/main" id="{58A053D4-05B6-FA6C-B3B6-06C7AE26CA11}"/>
              </a:ext>
            </a:extLst>
          </p:cNvPr>
          <p:cNvPicPr>
            <a:picLocks noGrp="1" noChangeAspect="1"/>
          </p:cNvPicPr>
          <p:nvPr>
            <p:ph idx="1"/>
          </p:nvPr>
        </p:nvPicPr>
        <p:blipFill>
          <a:blip r:embed="rId2"/>
          <a:stretch>
            <a:fillRect/>
          </a:stretch>
        </p:blipFill>
        <p:spPr>
          <a:xfrm>
            <a:off x="5971237" y="1853799"/>
            <a:ext cx="5516631" cy="3104500"/>
          </a:xfrm>
          <a:prstGeom prst="rect">
            <a:avLst/>
          </a:prstGeom>
        </p:spPr>
      </p:pic>
      <p:sp>
        <p:nvSpPr>
          <p:cNvPr id="7" name="TextBox 6">
            <a:extLst>
              <a:ext uri="{FF2B5EF4-FFF2-40B4-BE49-F238E27FC236}">
                <a16:creationId xmlns:a16="http://schemas.microsoft.com/office/drawing/2014/main" id="{031F2ABF-FE18-1D6D-524C-AB6569B68EE6}"/>
              </a:ext>
            </a:extLst>
          </p:cNvPr>
          <p:cNvSpPr txBox="1"/>
          <p:nvPr/>
        </p:nvSpPr>
        <p:spPr>
          <a:xfrm>
            <a:off x="643028" y="1159914"/>
            <a:ext cx="10312718"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latin typeface="Aptos"/>
                <a:ea typeface="+mn-lt"/>
                <a:cs typeface="+mn-lt"/>
              </a:rPr>
              <a:t>This section analyzes staff performance, store revenue contribution, employment distribution, and customer rating trends to evaluate operational efficiency.</a:t>
            </a:r>
            <a:endParaRPr lang="en-US" sz="1500">
              <a:latin typeface="Aptos"/>
            </a:endParaRPr>
          </a:p>
        </p:txBody>
      </p:sp>
      <p:sp>
        <p:nvSpPr>
          <p:cNvPr id="8" name="TextBox 7">
            <a:extLst>
              <a:ext uri="{FF2B5EF4-FFF2-40B4-BE49-F238E27FC236}">
                <a16:creationId xmlns:a16="http://schemas.microsoft.com/office/drawing/2014/main" id="{88A22C8D-BDEF-9B29-D596-3A0977807BE2}"/>
              </a:ext>
            </a:extLst>
          </p:cNvPr>
          <p:cNvSpPr txBox="1"/>
          <p:nvPr/>
        </p:nvSpPr>
        <p:spPr>
          <a:xfrm>
            <a:off x="644286" y="1800931"/>
            <a:ext cx="436323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Key Areas Analyzed</a:t>
            </a:r>
          </a:p>
          <a:p>
            <a:endParaRPr lang="en-US" b="1" dirty="0">
              <a:solidFill>
                <a:srgbClr val="364A57"/>
              </a:solidFill>
            </a:endParaRPr>
          </a:p>
        </p:txBody>
      </p:sp>
      <p:sp>
        <p:nvSpPr>
          <p:cNvPr id="10" name="TextBox 9">
            <a:extLst>
              <a:ext uri="{FF2B5EF4-FFF2-40B4-BE49-F238E27FC236}">
                <a16:creationId xmlns:a16="http://schemas.microsoft.com/office/drawing/2014/main" id="{83578CDA-0972-E24F-207D-C308A5522C81}"/>
              </a:ext>
            </a:extLst>
          </p:cNvPr>
          <p:cNvSpPr txBox="1"/>
          <p:nvPr/>
        </p:nvSpPr>
        <p:spPr>
          <a:xfrm>
            <a:off x="599638" y="2183378"/>
            <a:ext cx="460331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latin typeface="Aptos"/>
                <a:ea typeface="+mn-lt"/>
                <a:cs typeface="+mn-lt"/>
              </a:rPr>
              <a:t> • Distribution of staff by employment duration</a:t>
            </a:r>
            <a:br>
              <a:rPr lang="en-US" sz="1500" dirty="0">
                <a:latin typeface="Aptos"/>
                <a:ea typeface="+mn-lt"/>
                <a:cs typeface="+mn-lt"/>
              </a:rPr>
            </a:br>
            <a:r>
              <a:rPr lang="en-US" sz="1500">
                <a:latin typeface="Aptos"/>
                <a:ea typeface="+mn-lt"/>
                <a:cs typeface="+mn-lt"/>
              </a:rPr>
              <a:t> • Store performance by location</a:t>
            </a:r>
            <a:br>
              <a:rPr lang="en-US" sz="1500" dirty="0">
                <a:latin typeface="Aptos"/>
                <a:ea typeface="+mn-lt"/>
                <a:cs typeface="+mn-lt"/>
              </a:rPr>
            </a:br>
            <a:r>
              <a:rPr lang="en-US" sz="1500">
                <a:latin typeface="Aptos"/>
                <a:ea typeface="+mn-lt"/>
                <a:cs typeface="+mn-lt"/>
              </a:rPr>
              <a:t> • Average rental duration by staff member</a:t>
            </a:r>
            <a:br>
              <a:rPr lang="en-US" sz="1500" dirty="0">
                <a:latin typeface="Aptos"/>
                <a:ea typeface="+mn-lt"/>
                <a:cs typeface="+mn-lt"/>
              </a:rPr>
            </a:br>
            <a:r>
              <a:rPr lang="en-US" sz="1500">
                <a:latin typeface="Aptos"/>
                <a:ea typeface="+mn-lt"/>
                <a:cs typeface="+mn-lt"/>
              </a:rPr>
              <a:t> • Customer ratings across locations</a:t>
            </a:r>
            <a:endParaRPr lang="en-US">
              <a:latin typeface="Aptos"/>
              <a:ea typeface="+mn-lt"/>
              <a:cs typeface="+mn-lt"/>
            </a:endParaRPr>
          </a:p>
        </p:txBody>
      </p:sp>
      <p:sp>
        <p:nvSpPr>
          <p:cNvPr id="11" name="TextBox 10">
            <a:extLst>
              <a:ext uri="{FF2B5EF4-FFF2-40B4-BE49-F238E27FC236}">
                <a16:creationId xmlns:a16="http://schemas.microsoft.com/office/drawing/2014/main" id="{7A7B8018-83C9-8577-5E2D-E211DBBF105C}"/>
              </a:ext>
            </a:extLst>
          </p:cNvPr>
          <p:cNvSpPr txBox="1"/>
          <p:nvPr/>
        </p:nvSpPr>
        <p:spPr>
          <a:xfrm>
            <a:off x="598759" y="5125233"/>
            <a:ext cx="34864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Business Value</a:t>
            </a:r>
            <a:endParaRPr lang="en-US" b="1"/>
          </a:p>
        </p:txBody>
      </p:sp>
      <p:sp>
        <p:nvSpPr>
          <p:cNvPr id="12" name="TextBox 11">
            <a:extLst>
              <a:ext uri="{FF2B5EF4-FFF2-40B4-BE49-F238E27FC236}">
                <a16:creationId xmlns:a16="http://schemas.microsoft.com/office/drawing/2014/main" id="{1DE7ED0F-7B07-4CA6-5345-CB6A3835CBF8}"/>
              </a:ext>
            </a:extLst>
          </p:cNvPr>
          <p:cNvSpPr txBox="1"/>
          <p:nvPr/>
        </p:nvSpPr>
        <p:spPr>
          <a:xfrm>
            <a:off x="601273" y="5566158"/>
            <a:ext cx="1065756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latin typeface="Aptos"/>
                <a:ea typeface="+mn-lt"/>
                <a:cs typeface="+mn-lt"/>
              </a:rPr>
              <a:t>Staff and store performance analysis helps evaluate operational effectiveness, monitor store contribution, and support better business management decisions.</a:t>
            </a:r>
            <a:endParaRPr lang="en-US" dirty="0">
              <a:latin typeface="Aptos"/>
              <a:ea typeface="+mn-lt"/>
              <a:cs typeface="+mn-lt"/>
            </a:endParaRPr>
          </a:p>
        </p:txBody>
      </p:sp>
      <p:sp>
        <p:nvSpPr>
          <p:cNvPr id="9" name="TextBox 8">
            <a:extLst>
              <a:ext uri="{FF2B5EF4-FFF2-40B4-BE49-F238E27FC236}">
                <a16:creationId xmlns:a16="http://schemas.microsoft.com/office/drawing/2014/main" id="{970EF0F3-2804-C4F5-870A-AB6C181EE547}"/>
              </a:ext>
            </a:extLst>
          </p:cNvPr>
          <p:cNvSpPr txBox="1"/>
          <p:nvPr/>
        </p:nvSpPr>
        <p:spPr>
          <a:xfrm>
            <a:off x="640135" y="3407430"/>
            <a:ext cx="29958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Key Insights</a:t>
            </a:r>
            <a:endParaRPr lang="en-US" b="1"/>
          </a:p>
        </p:txBody>
      </p:sp>
      <p:sp>
        <p:nvSpPr>
          <p:cNvPr id="13" name="TextBox 12">
            <a:extLst>
              <a:ext uri="{FF2B5EF4-FFF2-40B4-BE49-F238E27FC236}">
                <a16:creationId xmlns:a16="http://schemas.microsoft.com/office/drawing/2014/main" id="{93FDD7E6-D2F3-F6B4-E50F-F53A7C1B9032}"/>
              </a:ext>
            </a:extLst>
          </p:cNvPr>
          <p:cNvSpPr txBox="1"/>
          <p:nvPr/>
        </p:nvSpPr>
        <p:spPr>
          <a:xfrm>
            <a:off x="600519" y="3855149"/>
            <a:ext cx="586358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latin typeface="Aptos"/>
                <a:ea typeface="+mn-lt"/>
                <a:cs typeface="+mn-lt"/>
              </a:rPr>
              <a:t>• Store revenue varied across different countries</a:t>
            </a:r>
            <a:br>
              <a:rPr lang="en-US" sz="1500" dirty="0">
                <a:latin typeface="Aptos"/>
                <a:ea typeface="+mn-lt"/>
                <a:cs typeface="+mn-lt"/>
              </a:rPr>
            </a:br>
            <a:r>
              <a:rPr lang="en-US" sz="1500" dirty="0">
                <a:latin typeface="Aptos"/>
                <a:ea typeface="+mn-lt"/>
                <a:cs typeface="+mn-lt"/>
              </a:rPr>
              <a:t>• Staff rental duration remained consistent</a:t>
            </a:r>
            <a:br>
              <a:rPr lang="en-US" sz="1500" dirty="0">
                <a:latin typeface="Aptos"/>
                <a:ea typeface="+mn-lt"/>
                <a:cs typeface="+mn-lt"/>
              </a:rPr>
            </a:br>
            <a:r>
              <a:rPr lang="en-US" sz="1500">
                <a:latin typeface="Aptos"/>
                <a:ea typeface="+mn-lt"/>
                <a:cs typeface="+mn-lt"/>
              </a:rPr>
              <a:t>• Revenue contribution was higher in top-performing locations</a:t>
            </a:r>
            <a:br>
              <a:rPr lang="en-US" sz="1500" dirty="0">
                <a:latin typeface="Aptos"/>
                <a:ea typeface="+mn-lt"/>
                <a:cs typeface="+mn-lt"/>
              </a:rPr>
            </a:br>
            <a:r>
              <a:rPr lang="en-US" sz="1500">
                <a:latin typeface="Aptos"/>
                <a:ea typeface="+mn-lt"/>
                <a:cs typeface="+mn-lt"/>
              </a:rPr>
              <a:t>• Customer ratings showed moderate variation across regions</a:t>
            </a:r>
            <a:endParaRPr lang="en-US" sz="1500">
              <a:latin typeface="Aptos"/>
            </a:endParaRPr>
          </a:p>
        </p:txBody>
      </p:sp>
    </p:spTree>
    <p:extLst>
      <p:ext uri="{BB962C8B-B14F-4D97-AF65-F5344CB8AC3E}">
        <p14:creationId xmlns:p14="http://schemas.microsoft.com/office/powerpoint/2010/main" val="1571557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a:extLst>
            <a:ext uri="{FF2B5EF4-FFF2-40B4-BE49-F238E27FC236}">
              <a16:creationId xmlns:a16="http://schemas.microsoft.com/office/drawing/2014/main" id="{7760E436-AA44-4B65-D604-8D211550A6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531EC-07F2-3F5B-97BC-47C54C2EAB7E}"/>
              </a:ext>
            </a:extLst>
          </p:cNvPr>
          <p:cNvSpPr>
            <a:spLocks noGrp="1"/>
          </p:cNvSpPr>
          <p:nvPr>
            <p:ph type="title"/>
          </p:nvPr>
        </p:nvSpPr>
        <p:spPr>
          <a:xfrm>
            <a:off x="640024" y="926095"/>
            <a:ext cx="9238434" cy="655583"/>
          </a:xfrm>
        </p:spPr>
        <p:txBody>
          <a:bodyPr/>
          <a:lstStyle/>
          <a:p>
            <a:r>
              <a:rPr lang="en-US">
                <a:solidFill>
                  <a:srgbClr val="FFFFFF"/>
                </a:solidFill>
                <a:ea typeface="+mj-lt"/>
                <a:cs typeface="+mj-lt"/>
              </a:rPr>
              <a:t>GEOGRAPHIC REVENUE ANALYSIS</a:t>
            </a:r>
            <a:endParaRPr lang="en-US"/>
          </a:p>
          <a:p>
            <a:endParaRPr lang="en-US" dirty="0">
              <a:solidFill>
                <a:srgbClr val="364A57"/>
              </a:solidFill>
            </a:endParaRPr>
          </a:p>
        </p:txBody>
      </p:sp>
      <p:sp>
        <p:nvSpPr>
          <p:cNvPr id="4" name="Date Placeholder 3">
            <a:extLst>
              <a:ext uri="{FF2B5EF4-FFF2-40B4-BE49-F238E27FC236}">
                <a16:creationId xmlns:a16="http://schemas.microsoft.com/office/drawing/2014/main" id="{8ACD155D-1414-5BF7-8654-0EAACB4A7A83}"/>
              </a:ext>
            </a:extLst>
          </p:cNvPr>
          <p:cNvSpPr>
            <a:spLocks noGrp="1"/>
          </p:cNvSpPr>
          <p:nvPr>
            <p:ph type="dt" sz="half" idx="10"/>
          </p:nvPr>
        </p:nvSpPr>
        <p:spPr/>
        <p:txBody>
          <a:bodyPr/>
          <a:lstStyle/>
          <a:p>
            <a:fld id="{090D7FD9-9C17-4450-AACD-2F8073370DC0}" type="datetime1">
              <a:t>5/16/2026</a:t>
            </a:fld>
            <a:endParaRPr lang="en-US" dirty="0"/>
          </a:p>
        </p:txBody>
      </p:sp>
      <p:sp>
        <p:nvSpPr>
          <p:cNvPr id="5" name="Footer Placeholder 4">
            <a:extLst>
              <a:ext uri="{FF2B5EF4-FFF2-40B4-BE49-F238E27FC236}">
                <a16:creationId xmlns:a16="http://schemas.microsoft.com/office/drawing/2014/main" id="{CEA47DA4-3FCE-784B-B5D2-0294522EC4C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375B24D-60AF-5F5E-FD62-4074F0DF5861}"/>
              </a:ext>
            </a:extLst>
          </p:cNvPr>
          <p:cNvSpPr>
            <a:spLocks noGrp="1"/>
          </p:cNvSpPr>
          <p:nvPr>
            <p:ph type="sldNum" sz="quarter" idx="12"/>
          </p:nvPr>
        </p:nvSpPr>
        <p:spPr/>
        <p:txBody>
          <a:bodyPr/>
          <a:lstStyle/>
          <a:p>
            <a:fld id="{196A61CA-0502-4EE4-9724-96EA822543E5}" type="slidenum">
              <a:rPr lang="en-US" dirty="0"/>
              <a:t>10</a:t>
            </a:fld>
            <a:endParaRPr lang="en-US" dirty="0"/>
          </a:p>
        </p:txBody>
      </p:sp>
      <p:pic>
        <p:nvPicPr>
          <p:cNvPr id="3" name="Content Placeholder 2" descr="A screenshot of a map&#10;&#10;AI-generated content may be incorrect.">
            <a:extLst>
              <a:ext uri="{FF2B5EF4-FFF2-40B4-BE49-F238E27FC236}">
                <a16:creationId xmlns:a16="http://schemas.microsoft.com/office/drawing/2014/main" id="{5E54E2EC-1FA7-67E5-1D75-10FE850D4ED0}"/>
              </a:ext>
            </a:extLst>
          </p:cNvPr>
          <p:cNvPicPr>
            <a:picLocks noGrp="1" noChangeAspect="1"/>
          </p:cNvPicPr>
          <p:nvPr>
            <p:ph idx="1"/>
          </p:nvPr>
        </p:nvPicPr>
        <p:blipFill>
          <a:blip r:embed="rId3"/>
          <a:stretch>
            <a:fillRect/>
          </a:stretch>
        </p:blipFill>
        <p:spPr>
          <a:xfrm>
            <a:off x="5788422" y="1807896"/>
            <a:ext cx="5698647" cy="3150403"/>
          </a:xfrm>
          <a:prstGeom prst="rect">
            <a:avLst/>
          </a:prstGeom>
        </p:spPr>
      </p:pic>
      <p:sp>
        <p:nvSpPr>
          <p:cNvPr id="7" name="TextBox 6">
            <a:extLst>
              <a:ext uri="{FF2B5EF4-FFF2-40B4-BE49-F238E27FC236}">
                <a16:creationId xmlns:a16="http://schemas.microsoft.com/office/drawing/2014/main" id="{D1B69615-C234-004D-952E-EDB3D9A1AADB}"/>
              </a:ext>
            </a:extLst>
          </p:cNvPr>
          <p:cNvSpPr txBox="1"/>
          <p:nvPr/>
        </p:nvSpPr>
        <p:spPr>
          <a:xfrm>
            <a:off x="643028" y="1159914"/>
            <a:ext cx="10312718"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latin typeface="Aptos"/>
                <a:ea typeface="+mn-lt"/>
                <a:cs typeface="+mn-lt"/>
              </a:rPr>
              <a:t>This section analyzes country-wise revenue distribution to identify high-performing and low-performing geographic regions.</a:t>
            </a:r>
            <a:endParaRPr lang="en-US" dirty="0">
              <a:latin typeface="Aptos"/>
            </a:endParaRPr>
          </a:p>
        </p:txBody>
      </p:sp>
      <p:sp>
        <p:nvSpPr>
          <p:cNvPr id="8" name="TextBox 7">
            <a:extLst>
              <a:ext uri="{FF2B5EF4-FFF2-40B4-BE49-F238E27FC236}">
                <a16:creationId xmlns:a16="http://schemas.microsoft.com/office/drawing/2014/main" id="{3C45A2B0-EB5B-1FC7-6FFD-0BB043E2141D}"/>
              </a:ext>
            </a:extLst>
          </p:cNvPr>
          <p:cNvSpPr txBox="1"/>
          <p:nvPr/>
        </p:nvSpPr>
        <p:spPr>
          <a:xfrm>
            <a:off x="644286" y="1800931"/>
            <a:ext cx="436323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Key Areas Analyzed</a:t>
            </a:r>
          </a:p>
          <a:p>
            <a:endParaRPr lang="en-US" b="1" dirty="0">
              <a:solidFill>
                <a:srgbClr val="364A57"/>
              </a:solidFill>
            </a:endParaRPr>
          </a:p>
        </p:txBody>
      </p:sp>
      <p:sp>
        <p:nvSpPr>
          <p:cNvPr id="10" name="TextBox 9">
            <a:extLst>
              <a:ext uri="{FF2B5EF4-FFF2-40B4-BE49-F238E27FC236}">
                <a16:creationId xmlns:a16="http://schemas.microsoft.com/office/drawing/2014/main" id="{14751CDC-8F43-0399-4CAC-0CE5C5668C92}"/>
              </a:ext>
            </a:extLst>
          </p:cNvPr>
          <p:cNvSpPr txBox="1"/>
          <p:nvPr/>
        </p:nvSpPr>
        <p:spPr>
          <a:xfrm>
            <a:off x="599638" y="2183378"/>
            <a:ext cx="4603315"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a:latin typeface="Aptos"/>
                <a:ea typeface="+mn-lt"/>
                <a:cs typeface="+mn-lt"/>
              </a:rPr>
              <a:t> • Rental revenue by country</a:t>
            </a:r>
            <a:br>
              <a:rPr lang="en-US" sz="1500" dirty="0">
                <a:latin typeface="Aptos"/>
                <a:ea typeface="+mn-lt"/>
                <a:cs typeface="+mn-lt"/>
              </a:rPr>
            </a:br>
            <a:r>
              <a:rPr lang="en-US" sz="1500">
                <a:latin typeface="Aptos"/>
                <a:ea typeface="+mn-lt"/>
                <a:cs typeface="+mn-lt"/>
              </a:rPr>
              <a:t> • Top revenue-generating countries</a:t>
            </a:r>
            <a:br>
              <a:rPr lang="en-US" sz="1500" dirty="0">
                <a:latin typeface="Aptos"/>
                <a:ea typeface="+mn-lt"/>
                <a:cs typeface="+mn-lt"/>
              </a:rPr>
            </a:br>
            <a:r>
              <a:rPr lang="en-US" sz="1500">
                <a:latin typeface="Aptos"/>
                <a:ea typeface="+mn-lt"/>
                <a:cs typeface="+mn-lt"/>
              </a:rPr>
              <a:t> • Bottom revenue-generating countries</a:t>
            </a:r>
            <a:br>
              <a:rPr lang="en-US" sz="1500" dirty="0">
                <a:latin typeface="Aptos"/>
                <a:ea typeface="+mn-lt"/>
                <a:cs typeface="+mn-lt"/>
              </a:rPr>
            </a:br>
            <a:r>
              <a:rPr lang="en-US" sz="1500">
                <a:latin typeface="Aptos"/>
                <a:ea typeface="+mn-lt"/>
                <a:cs typeface="+mn-lt"/>
              </a:rPr>
              <a:t> • Geographic revenue distribution trends</a:t>
            </a:r>
            <a:endParaRPr lang="en-US">
              <a:latin typeface="Aptos"/>
            </a:endParaRPr>
          </a:p>
        </p:txBody>
      </p:sp>
      <p:sp>
        <p:nvSpPr>
          <p:cNvPr id="11" name="TextBox 10">
            <a:extLst>
              <a:ext uri="{FF2B5EF4-FFF2-40B4-BE49-F238E27FC236}">
                <a16:creationId xmlns:a16="http://schemas.microsoft.com/office/drawing/2014/main" id="{3D602D33-8242-606A-EFB7-B36DAD6E3197}"/>
              </a:ext>
            </a:extLst>
          </p:cNvPr>
          <p:cNvSpPr txBox="1"/>
          <p:nvPr/>
        </p:nvSpPr>
        <p:spPr>
          <a:xfrm>
            <a:off x="644663" y="5290486"/>
            <a:ext cx="348641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Business Value</a:t>
            </a:r>
            <a:endParaRPr lang="en-US" b="1"/>
          </a:p>
        </p:txBody>
      </p:sp>
      <p:sp>
        <p:nvSpPr>
          <p:cNvPr id="12" name="TextBox 11">
            <a:extLst>
              <a:ext uri="{FF2B5EF4-FFF2-40B4-BE49-F238E27FC236}">
                <a16:creationId xmlns:a16="http://schemas.microsoft.com/office/drawing/2014/main" id="{5BC273E3-4587-92A6-E5CD-58F3624CE781}"/>
              </a:ext>
            </a:extLst>
          </p:cNvPr>
          <p:cNvSpPr txBox="1"/>
          <p:nvPr/>
        </p:nvSpPr>
        <p:spPr>
          <a:xfrm>
            <a:off x="647177" y="5657965"/>
            <a:ext cx="10657561"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latin typeface="Aptos"/>
                <a:ea typeface="+mn-lt"/>
                <a:cs typeface="+mn-lt"/>
              </a:rPr>
              <a:t>Geographic revenue analysis helps identify profitable regions, monitor market performance, and support strategic business expansion decisions.</a:t>
            </a:r>
            <a:endParaRPr lang="en-US" dirty="0">
              <a:latin typeface="Aptos"/>
            </a:endParaRPr>
          </a:p>
          <a:p>
            <a:endParaRPr lang="en-US" sz="1500" dirty="0">
              <a:latin typeface="Aptos"/>
              <a:ea typeface="+mn-lt"/>
              <a:cs typeface="+mn-lt"/>
            </a:endParaRPr>
          </a:p>
        </p:txBody>
      </p:sp>
      <p:sp>
        <p:nvSpPr>
          <p:cNvPr id="9" name="TextBox 8">
            <a:extLst>
              <a:ext uri="{FF2B5EF4-FFF2-40B4-BE49-F238E27FC236}">
                <a16:creationId xmlns:a16="http://schemas.microsoft.com/office/drawing/2014/main" id="{7E5DD769-6005-C030-B9EE-46056C5E61B6}"/>
              </a:ext>
            </a:extLst>
          </p:cNvPr>
          <p:cNvSpPr txBox="1"/>
          <p:nvPr/>
        </p:nvSpPr>
        <p:spPr>
          <a:xfrm>
            <a:off x="640135" y="3407430"/>
            <a:ext cx="29958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Key Insights</a:t>
            </a:r>
            <a:endParaRPr lang="en-US" b="1"/>
          </a:p>
        </p:txBody>
      </p:sp>
      <p:sp>
        <p:nvSpPr>
          <p:cNvPr id="13" name="TextBox 12">
            <a:extLst>
              <a:ext uri="{FF2B5EF4-FFF2-40B4-BE49-F238E27FC236}">
                <a16:creationId xmlns:a16="http://schemas.microsoft.com/office/drawing/2014/main" id="{5E10B2D8-6788-1672-4FFC-92CA95003A24}"/>
              </a:ext>
            </a:extLst>
          </p:cNvPr>
          <p:cNvSpPr txBox="1"/>
          <p:nvPr/>
        </p:nvSpPr>
        <p:spPr>
          <a:xfrm>
            <a:off x="600519" y="3855149"/>
            <a:ext cx="5863588" cy="12464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latin typeface="Aptos"/>
                <a:ea typeface="+mn-lt"/>
                <a:cs typeface="+mn-lt"/>
              </a:rPr>
              <a:t>• India generated the highest rental revenue</a:t>
            </a:r>
            <a:br>
              <a:rPr lang="en-US" sz="1500" dirty="0">
                <a:latin typeface="Aptos"/>
                <a:ea typeface="+mn-lt"/>
                <a:cs typeface="+mn-lt"/>
              </a:rPr>
            </a:br>
            <a:r>
              <a:rPr lang="en-US" sz="1500" dirty="0">
                <a:latin typeface="Aptos"/>
                <a:ea typeface="+mn-lt"/>
                <a:cs typeface="+mn-lt"/>
              </a:rPr>
              <a:t>• Revenue contribution varied significantly across countries</a:t>
            </a:r>
            <a:br>
              <a:rPr lang="en-US" sz="1500" dirty="0">
                <a:latin typeface="Aptos"/>
                <a:ea typeface="+mn-lt"/>
                <a:cs typeface="+mn-lt"/>
              </a:rPr>
            </a:br>
            <a:r>
              <a:rPr lang="en-US" sz="1500">
                <a:latin typeface="Aptos"/>
                <a:ea typeface="+mn-lt"/>
                <a:cs typeface="+mn-lt"/>
              </a:rPr>
              <a:t>• Several regions showed low revenue performance</a:t>
            </a:r>
            <a:endParaRPr lang="en-US">
              <a:latin typeface="Aptos"/>
              <a:ea typeface="+mn-lt"/>
              <a:cs typeface="+mn-lt"/>
            </a:endParaRPr>
          </a:p>
          <a:p>
            <a:r>
              <a:rPr lang="en-US" sz="1500">
                <a:latin typeface="Aptos"/>
                <a:ea typeface="+mn-lt"/>
                <a:cs typeface="+mn-lt"/>
              </a:rPr>
              <a:t>• Geographic analysis highlighted major revenue-driving </a:t>
            </a:r>
            <a:endParaRPr lang="en-US">
              <a:latin typeface="Aptos"/>
              <a:ea typeface="+mn-lt"/>
              <a:cs typeface="+mn-lt"/>
            </a:endParaRPr>
          </a:p>
          <a:p>
            <a:r>
              <a:rPr lang="en-US" sz="1500">
                <a:latin typeface="Aptos"/>
                <a:ea typeface="+mn-lt"/>
                <a:cs typeface="+mn-lt"/>
              </a:rPr>
              <a:t>   markets</a:t>
            </a:r>
            <a:endParaRPr lang="en-US">
              <a:latin typeface="Aptos"/>
            </a:endParaRPr>
          </a:p>
        </p:txBody>
      </p:sp>
    </p:spTree>
    <p:extLst>
      <p:ext uri="{BB962C8B-B14F-4D97-AF65-F5344CB8AC3E}">
        <p14:creationId xmlns:p14="http://schemas.microsoft.com/office/powerpoint/2010/main" val="3089522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0BE12-B476-1408-DEAE-24A7084AA739}"/>
              </a:ext>
            </a:extLst>
          </p:cNvPr>
          <p:cNvSpPr>
            <a:spLocks noGrp="1"/>
          </p:cNvSpPr>
          <p:nvPr>
            <p:ph type="title"/>
          </p:nvPr>
        </p:nvSpPr>
        <p:spPr>
          <a:xfrm>
            <a:off x="1179045" y="711417"/>
            <a:ext cx="9238434" cy="523532"/>
          </a:xfrm>
        </p:spPr>
        <p:txBody>
          <a:bodyPr/>
          <a:lstStyle/>
          <a:p>
            <a:r>
              <a:rPr lang="en-US">
                <a:solidFill>
                  <a:schemeClr val="bg2">
                    <a:lumMod val="76000"/>
                    <a:lumOff val="24000"/>
                  </a:schemeClr>
                </a:solidFill>
                <a:ea typeface="+mj-lt"/>
                <a:cs typeface="+mj-lt"/>
              </a:rPr>
              <a:t>KEY INSIGHTs</a:t>
            </a:r>
            <a:endParaRPr lang="en-US" b="0">
              <a:solidFill>
                <a:schemeClr val="bg2">
                  <a:lumMod val="76000"/>
                  <a:lumOff val="24000"/>
                </a:schemeClr>
              </a:solidFill>
              <a:ea typeface="+mj-lt"/>
              <a:cs typeface="+mj-lt"/>
            </a:endParaRPr>
          </a:p>
        </p:txBody>
      </p:sp>
      <p:graphicFrame>
        <p:nvGraphicFramePr>
          <p:cNvPr id="7" name="Content Placeholder 6">
            <a:extLst>
              <a:ext uri="{FF2B5EF4-FFF2-40B4-BE49-F238E27FC236}">
                <a16:creationId xmlns:a16="http://schemas.microsoft.com/office/drawing/2014/main" id="{9C452473-C736-40D4-36BB-BBDE679D9AB9}"/>
              </a:ext>
            </a:extLst>
          </p:cNvPr>
          <p:cNvGraphicFramePr>
            <a:graphicFrameLocks noGrp="1"/>
          </p:cNvGraphicFramePr>
          <p:nvPr>
            <p:ph idx="1"/>
            <p:extLst>
              <p:ext uri="{D42A27DB-BD31-4B8C-83A1-F6EECF244321}">
                <p14:modId xmlns:p14="http://schemas.microsoft.com/office/powerpoint/2010/main" val="1734994110"/>
              </p:ext>
            </p:extLst>
          </p:nvPr>
        </p:nvGraphicFramePr>
        <p:xfrm>
          <a:off x="1263324" y="1231726"/>
          <a:ext cx="7953745" cy="19832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ate Placeholder 3">
            <a:extLst>
              <a:ext uri="{FF2B5EF4-FFF2-40B4-BE49-F238E27FC236}">
                <a16:creationId xmlns:a16="http://schemas.microsoft.com/office/drawing/2014/main" id="{8E0E6E26-2D25-11D8-816E-8907F6C14C69}"/>
              </a:ext>
            </a:extLst>
          </p:cNvPr>
          <p:cNvSpPr>
            <a:spLocks noGrp="1"/>
          </p:cNvSpPr>
          <p:nvPr>
            <p:ph type="dt" sz="half" idx="10"/>
          </p:nvPr>
        </p:nvSpPr>
        <p:spPr/>
        <p:txBody>
          <a:bodyPr/>
          <a:lstStyle/>
          <a:p>
            <a:fld id="{DC300A8B-5C21-4229-9418-5E03CD747BD1}" type="datetime1">
              <a:t>5/16/2026</a:t>
            </a:fld>
            <a:endParaRPr lang="en-US" dirty="0"/>
          </a:p>
        </p:txBody>
      </p:sp>
      <p:sp>
        <p:nvSpPr>
          <p:cNvPr id="5" name="Footer Placeholder 4">
            <a:extLst>
              <a:ext uri="{FF2B5EF4-FFF2-40B4-BE49-F238E27FC236}">
                <a16:creationId xmlns:a16="http://schemas.microsoft.com/office/drawing/2014/main" id="{5E78DD73-E1D6-363A-AB25-C0FA40AA1B2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29E4E75-2252-4DB4-E619-5E376B053EB5}"/>
              </a:ext>
            </a:extLst>
          </p:cNvPr>
          <p:cNvSpPr>
            <a:spLocks noGrp="1"/>
          </p:cNvSpPr>
          <p:nvPr>
            <p:ph type="sldNum" sz="quarter" idx="12"/>
          </p:nvPr>
        </p:nvSpPr>
        <p:spPr/>
        <p:txBody>
          <a:bodyPr/>
          <a:lstStyle/>
          <a:p>
            <a:fld id="{196A61CA-0502-4EE4-9724-96EA822543E5}" type="slidenum">
              <a:rPr lang="en-US" dirty="0"/>
              <a:t>11</a:t>
            </a:fld>
            <a:endParaRPr lang="en-US" dirty="0"/>
          </a:p>
        </p:txBody>
      </p:sp>
      <p:graphicFrame>
        <p:nvGraphicFramePr>
          <p:cNvPr id="420" name="Content Placeholder 6">
            <a:extLst>
              <a:ext uri="{FF2B5EF4-FFF2-40B4-BE49-F238E27FC236}">
                <a16:creationId xmlns:a16="http://schemas.microsoft.com/office/drawing/2014/main" id="{19FC59B0-C78C-C6D1-AA0E-A33CD048278F}"/>
              </a:ext>
            </a:extLst>
          </p:cNvPr>
          <p:cNvGraphicFramePr>
            <a:graphicFrameLocks/>
          </p:cNvGraphicFramePr>
          <p:nvPr>
            <p:extLst>
              <p:ext uri="{D42A27DB-BD31-4B8C-83A1-F6EECF244321}">
                <p14:modId xmlns:p14="http://schemas.microsoft.com/office/powerpoint/2010/main" val="2583698307"/>
              </p:ext>
            </p:extLst>
          </p:nvPr>
        </p:nvGraphicFramePr>
        <p:xfrm>
          <a:off x="1259149" y="4035468"/>
          <a:ext cx="7953745" cy="198328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92" name="Title 1">
            <a:extLst>
              <a:ext uri="{FF2B5EF4-FFF2-40B4-BE49-F238E27FC236}">
                <a16:creationId xmlns:a16="http://schemas.microsoft.com/office/drawing/2014/main" id="{053BF9AC-A723-4509-623C-D52EDB3E2F27}"/>
              </a:ext>
            </a:extLst>
          </p:cNvPr>
          <p:cNvSpPr txBox="1">
            <a:spLocks/>
          </p:cNvSpPr>
          <p:nvPr/>
        </p:nvSpPr>
        <p:spPr>
          <a:xfrm>
            <a:off x="1174870" y="3515159"/>
            <a:ext cx="9238434" cy="523532"/>
          </a:xfrm>
          <a:prstGeom prst="rect">
            <a:avLst/>
          </a:prstGeom>
        </p:spPr>
        <p:txBody>
          <a:bodyPr vert="horz" lIns="91440" tIns="45720" rIns="91440" bIns="45720" rtlCol="0" anchor="b">
            <a:noAutofit/>
          </a:bodyPr>
          <a:lst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a:lstStyle>
          <a:p>
            <a:r>
              <a:rPr lang="en-US">
                <a:solidFill>
                  <a:schemeClr val="bg2">
                    <a:lumMod val="76000"/>
                    <a:lumOff val="24000"/>
                  </a:schemeClr>
                </a:solidFill>
                <a:ea typeface="+mj-lt"/>
                <a:cs typeface="+mj-lt"/>
              </a:rPr>
              <a:t>business</a:t>
            </a:r>
            <a:r>
              <a:rPr lang="en-US" dirty="0">
                <a:solidFill>
                  <a:schemeClr val="bg2">
                    <a:lumMod val="76000"/>
                    <a:lumOff val="24000"/>
                  </a:schemeClr>
                </a:solidFill>
                <a:ea typeface="+mj-lt"/>
                <a:cs typeface="+mj-lt"/>
              </a:rPr>
              <a:t> findings</a:t>
            </a:r>
            <a:endParaRPr lang="en-US" b="0">
              <a:solidFill>
                <a:schemeClr val="bg2">
                  <a:lumMod val="76000"/>
                  <a:lumOff val="24000"/>
                </a:schemeClr>
              </a:solidFill>
              <a:ea typeface="+mj-lt"/>
              <a:cs typeface="+mj-lt"/>
            </a:endParaRPr>
          </a:p>
        </p:txBody>
      </p:sp>
    </p:spTree>
    <p:extLst>
      <p:ext uri="{BB962C8B-B14F-4D97-AF65-F5344CB8AC3E}">
        <p14:creationId xmlns:p14="http://schemas.microsoft.com/office/powerpoint/2010/main" val="1652529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a:extLst>
            <a:ext uri="{FF2B5EF4-FFF2-40B4-BE49-F238E27FC236}">
              <a16:creationId xmlns:a16="http://schemas.microsoft.com/office/drawing/2014/main" id="{C3690E66-92C9-7A84-156F-9C79958370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C1425C-9B4A-D023-8C97-85396067C4BA}"/>
              </a:ext>
            </a:extLst>
          </p:cNvPr>
          <p:cNvSpPr>
            <a:spLocks noGrp="1"/>
          </p:cNvSpPr>
          <p:nvPr>
            <p:ph type="title"/>
          </p:nvPr>
        </p:nvSpPr>
        <p:spPr>
          <a:xfrm>
            <a:off x="792826" y="554842"/>
            <a:ext cx="9238434" cy="607039"/>
          </a:xfrm>
        </p:spPr>
        <p:txBody>
          <a:bodyPr/>
          <a:lstStyle/>
          <a:p>
            <a:r>
              <a:rPr lang="en-US">
                <a:ea typeface="+mj-lt"/>
                <a:cs typeface="+mj-lt"/>
              </a:rPr>
              <a:t>CONCLUSION </a:t>
            </a:r>
            <a:endParaRPr lang="en-US"/>
          </a:p>
        </p:txBody>
      </p:sp>
      <p:sp>
        <p:nvSpPr>
          <p:cNvPr id="3" name="Content Placeholder 2">
            <a:extLst>
              <a:ext uri="{FF2B5EF4-FFF2-40B4-BE49-F238E27FC236}">
                <a16:creationId xmlns:a16="http://schemas.microsoft.com/office/drawing/2014/main" id="{8109CB17-7A7F-3A1E-87DC-1C929FA42B94}"/>
              </a:ext>
            </a:extLst>
          </p:cNvPr>
          <p:cNvSpPr>
            <a:spLocks noGrp="1"/>
          </p:cNvSpPr>
          <p:nvPr>
            <p:ph idx="1"/>
          </p:nvPr>
        </p:nvSpPr>
        <p:spPr>
          <a:xfrm>
            <a:off x="792826" y="1158658"/>
            <a:ext cx="10324023" cy="929014"/>
          </a:xfrm>
        </p:spPr>
        <p:txBody>
          <a:bodyPr vert="horz" lIns="91440" tIns="45720" rIns="91440" bIns="45720" rtlCol="0" anchor="t">
            <a:normAutofit/>
          </a:bodyPr>
          <a:lstStyle/>
          <a:p>
            <a:pPr marL="0" indent="0">
              <a:buNone/>
            </a:pPr>
            <a:r>
              <a:rPr lang="en-US" sz="1600">
                <a:latin typeface="Aptos"/>
                <a:ea typeface="+mn-lt"/>
                <a:cs typeface="+mn-lt"/>
              </a:rPr>
              <a:t>The Sakila Movie Rental Analysis project successfully transformed raw rental data into meaningful business insights through interactive Power BI dashboards, KPI analysis, and data-driven reporting.</a:t>
            </a:r>
            <a:endParaRPr lang="en-US" sz="1600">
              <a:latin typeface="Aptos"/>
            </a:endParaRPr>
          </a:p>
        </p:txBody>
      </p:sp>
      <p:sp>
        <p:nvSpPr>
          <p:cNvPr id="4" name="Date Placeholder 3">
            <a:extLst>
              <a:ext uri="{FF2B5EF4-FFF2-40B4-BE49-F238E27FC236}">
                <a16:creationId xmlns:a16="http://schemas.microsoft.com/office/drawing/2014/main" id="{371FA7FC-81E8-7352-A82F-119C140BE3A8}"/>
              </a:ext>
            </a:extLst>
          </p:cNvPr>
          <p:cNvSpPr>
            <a:spLocks noGrp="1"/>
          </p:cNvSpPr>
          <p:nvPr>
            <p:ph type="dt" sz="half" idx="10"/>
          </p:nvPr>
        </p:nvSpPr>
        <p:spPr/>
        <p:txBody>
          <a:bodyPr/>
          <a:lstStyle/>
          <a:p>
            <a:fld id="{154D8829-A850-4102-9A80-1B977DD41C8A}" type="datetime1">
              <a:t>5/16/2026</a:t>
            </a:fld>
            <a:endParaRPr lang="en-US" dirty="0"/>
          </a:p>
        </p:txBody>
      </p:sp>
      <p:sp>
        <p:nvSpPr>
          <p:cNvPr id="5" name="Footer Placeholder 4">
            <a:extLst>
              <a:ext uri="{FF2B5EF4-FFF2-40B4-BE49-F238E27FC236}">
                <a16:creationId xmlns:a16="http://schemas.microsoft.com/office/drawing/2014/main" id="{11F51A13-1750-193F-A391-C7675A91B76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BBD6042-6E0B-1F95-C7EF-93268EE533A0}"/>
              </a:ext>
            </a:extLst>
          </p:cNvPr>
          <p:cNvSpPr>
            <a:spLocks noGrp="1"/>
          </p:cNvSpPr>
          <p:nvPr>
            <p:ph type="sldNum" sz="quarter" idx="12"/>
          </p:nvPr>
        </p:nvSpPr>
        <p:spPr/>
        <p:txBody>
          <a:bodyPr/>
          <a:lstStyle/>
          <a:p>
            <a:fld id="{196A61CA-0502-4EE4-9724-96EA822543E5}" type="slidenum">
              <a:rPr lang="en-US" dirty="0"/>
              <a:t>12</a:t>
            </a:fld>
            <a:endParaRPr lang="en-US" dirty="0"/>
          </a:p>
        </p:txBody>
      </p:sp>
      <p:sp>
        <p:nvSpPr>
          <p:cNvPr id="8" name="Title 1">
            <a:extLst>
              <a:ext uri="{FF2B5EF4-FFF2-40B4-BE49-F238E27FC236}">
                <a16:creationId xmlns:a16="http://schemas.microsoft.com/office/drawing/2014/main" id="{176AB217-B63C-B869-A44D-A0659DB0D68B}"/>
              </a:ext>
            </a:extLst>
          </p:cNvPr>
          <p:cNvSpPr txBox="1">
            <a:spLocks/>
          </p:cNvSpPr>
          <p:nvPr/>
        </p:nvSpPr>
        <p:spPr>
          <a:xfrm>
            <a:off x="882596" y="2189489"/>
            <a:ext cx="9238434" cy="607039"/>
          </a:xfrm>
          <a:prstGeom prst="rect">
            <a:avLst/>
          </a:prstGeom>
        </p:spPr>
        <p:txBody>
          <a:bodyPr vert="horz" lIns="91440" tIns="45720" rIns="91440" bIns="45720" rtlCol="0" anchor="b">
            <a:noAutofit/>
          </a:bodyPr>
          <a:lst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a:lstStyle>
          <a:p>
            <a:r>
              <a:rPr lang="en-US">
                <a:ea typeface="+mj-lt"/>
                <a:cs typeface="+mj-lt"/>
              </a:rPr>
              <a:t>RECOMMENDATIONS</a:t>
            </a:r>
            <a:endParaRPr lang="en-US" b="0">
              <a:ea typeface="+mj-lt"/>
              <a:cs typeface="+mj-lt"/>
            </a:endParaRPr>
          </a:p>
        </p:txBody>
      </p:sp>
      <p:sp>
        <p:nvSpPr>
          <p:cNvPr id="99" name="TextBox 98">
            <a:extLst>
              <a:ext uri="{FF2B5EF4-FFF2-40B4-BE49-F238E27FC236}">
                <a16:creationId xmlns:a16="http://schemas.microsoft.com/office/drawing/2014/main" id="{BCFBD2F1-CBE2-9DF2-B947-CC6447D6EF49}"/>
              </a:ext>
            </a:extLst>
          </p:cNvPr>
          <p:cNvSpPr txBox="1"/>
          <p:nvPr/>
        </p:nvSpPr>
        <p:spPr>
          <a:xfrm>
            <a:off x="793315" y="2703534"/>
            <a:ext cx="9958191" cy="14718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ptos"/>
                <a:ea typeface="+mn-lt"/>
                <a:cs typeface="+mn-lt"/>
              </a:rPr>
              <a:t> • Focus on high-performing geographic regions to maximize revenue</a:t>
            </a:r>
            <a:br>
              <a:rPr lang="en-US" dirty="0">
                <a:latin typeface="Aptos"/>
                <a:ea typeface="+mn-lt"/>
                <a:cs typeface="+mn-lt"/>
              </a:rPr>
            </a:br>
            <a:r>
              <a:rPr lang="en-US">
                <a:latin typeface="Aptos"/>
                <a:ea typeface="+mn-lt"/>
                <a:cs typeface="+mn-lt"/>
              </a:rPr>
              <a:t> • Encourage digital payment methods to improve sales efficiency</a:t>
            </a:r>
            <a:br>
              <a:rPr lang="en-US" dirty="0">
                <a:latin typeface="Aptos"/>
                <a:ea typeface="+mn-lt"/>
                <a:cs typeface="+mn-lt"/>
              </a:rPr>
            </a:br>
            <a:r>
              <a:rPr lang="en-US">
                <a:latin typeface="Aptos"/>
                <a:ea typeface="+mn-lt"/>
                <a:cs typeface="+mn-lt"/>
              </a:rPr>
              <a:t> • Expand inventory for top-performing film categories</a:t>
            </a:r>
            <a:br>
              <a:rPr lang="en-US" dirty="0">
                <a:latin typeface="Aptos"/>
                <a:ea typeface="+mn-lt"/>
                <a:cs typeface="+mn-lt"/>
              </a:rPr>
            </a:br>
            <a:r>
              <a:rPr lang="en-US">
                <a:latin typeface="Aptos"/>
                <a:ea typeface="+mn-lt"/>
                <a:cs typeface="+mn-lt"/>
              </a:rPr>
              <a:t> • Improve engagement strategies for inactive customers</a:t>
            </a:r>
            <a:br>
              <a:rPr lang="en-US" dirty="0">
                <a:latin typeface="Aptos"/>
                <a:ea typeface="+mn-lt"/>
                <a:cs typeface="+mn-lt"/>
              </a:rPr>
            </a:br>
            <a:r>
              <a:rPr lang="en-US">
                <a:latin typeface="Aptos"/>
                <a:ea typeface="+mn-lt"/>
                <a:cs typeface="+mn-lt"/>
              </a:rPr>
              <a:t> • Use dashboard insights for continuous business monitoring and decision-making</a:t>
            </a:r>
            <a:endParaRPr lang="en-US">
              <a:latin typeface="Aptos"/>
            </a:endParaRPr>
          </a:p>
        </p:txBody>
      </p:sp>
      <p:sp>
        <p:nvSpPr>
          <p:cNvPr id="101" name="TextBox 100">
            <a:extLst>
              <a:ext uri="{FF2B5EF4-FFF2-40B4-BE49-F238E27FC236}">
                <a16:creationId xmlns:a16="http://schemas.microsoft.com/office/drawing/2014/main" id="{66808F69-8745-D939-8412-A100A77AB027}"/>
              </a:ext>
            </a:extLst>
          </p:cNvPr>
          <p:cNvSpPr txBox="1"/>
          <p:nvPr/>
        </p:nvSpPr>
        <p:spPr>
          <a:xfrm>
            <a:off x="5013428" y="5518494"/>
            <a:ext cx="152312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Arial"/>
                <a:ea typeface="+mn-lt"/>
                <a:cs typeface="Arial"/>
              </a:rPr>
              <a:t>Thank You</a:t>
            </a:r>
          </a:p>
        </p:txBody>
      </p:sp>
    </p:spTree>
    <p:extLst>
      <p:ext uri="{BB962C8B-B14F-4D97-AF65-F5344CB8AC3E}">
        <p14:creationId xmlns:p14="http://schemas.microsoft.com/office/powerpoint/2010/main" val="2851637103"/>
      </p:ext>
    </p:extLst>
  </p:cSld>
  <p:clrMapOvr>
    <a:masterClrMapping/>
  </p:clrMapOvr>
</p:sld>
</file>

<file path=ppt/theme/theme1.xml><?xml version="1.0" encoding="utf-8"?>
<a:theme xmlns:a="http://schemas.openxmlformats.org/drawingml/2006/main" name="PortalVTI">
  <a:themeElements>
    <a:clrScheme name="PortalVTI">
      <a:dk1>
        <a:sysClr val="windowText" lastClr="000000"/>
      </a:dk1>
      <a:lt1>
        <a:sysClr val="window" lastClr="FFFFFF"/>
      </a:lt1>
      <a:dk2>
        <a:srgbClr val="051618"/>
      </a:dk2>
      <a:lt2>
        <a:srgbClr val="E8E8DF"/>
      </a:lt2>
      <a:accent1>
        <a:srgbClr val="2D714C"/>
      </a:accent1>
      <a:accent2>
        <a:srgbClr val="1F7985"/>
      </a:accent2>
      <a:accent3>
        <a:srgbClr val="0D6756"/>
      </a:accent3>
      <a:accent4>
        <a:srgbClr val="40945E"/>
      </a:accent4>
      <a:accent5>
        <a:srgbClr val="389896"/>
      </a:accent5>
      <a:accent6>
        <a:srgbClr val="64924A"/>
      </a:accent6>
      <a:hlink>
        <a:srgbClr val="1F855C"/>
      </a:hlink>
      <a:folHlink>
        <a:srgbClr val="227390"/>
      </a:folHlink>
    </a:clrScheme>
    <a:fontScheme name="PortalVTI">
      <a:majorFont>
        <a:latin typeface="Trade Gothic Next Cond"/>
        <a:ea typeface=""/>
        <a:cs typeface=""/>
      </a:majorFont>
      <a:minorFont>
        <a:latin typeface="Trade Gothic Next Light"/>
        <a:ea typeface=""/>
        <a:cs typeface=""/>
      </a:minorFont>
    </a:fontScheme>
    <a:fmtScheme name="Portal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E3A4BB4D-5227-4A6D-99D3-DBAB0FE4C68F}" vid="{BE515EFD-5A7A-4BFE-BE06-A21DB8499CD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PortalVTI</vt:lpstr>
      <vt:lpstr>Sakila movie  rental  analysis </vt:lpstr>
      <vt:lpstr> TABLE OF CONTENTS </vt:lpstr>
      <vt:lpstr>PROJECT OVERVIEW</vt:lpstr>
      <vt:lpstr>DATA CLEANING &amp; PREPARATION</vt:lpstr>
      <vt:lpstr>DATA MODELING &amp; DAX</vt:lpstr>
      <vt:lpstr>EXECUTIVE DASHBOARD</vt:lpstr>
      <vt:lpstr>CUSTOMER &amp; SALES ANALYSIS </vt:lpstr>
      <vt:lpstr>FILM &amp; INVENTORY ANALYSIS </vt:lpstr>
      <vt:lpstr>STAFF &amp; STORE PERFORMANCE </vt:lpstr>
      <vt:lpstr>GEOGRAPHIC REVENUE ANALYSIS </vt:lpstr>
      <vt:lpstr>KEY INSIGHTs</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807</cp:revision>
  <dcterms:created xsi:type="dcterms:W3CDTF">2013-07-15T20:26:40Z</dcterms:created>
  <dcterms:modified xsi:type="dcterms:W3CDTF">2026-05-16T18:17:48Z</dcterms:modified>
</cp:coreProperties>
</file>